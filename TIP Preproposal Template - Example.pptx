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1" r:id="rId4"/>
  </p:sldMasterIdLst>
  <p:notesMasterIdLst>
    <p:notesMasterId r:id="rId9"/>
  </p:notesMasterIdLst>
  <p:handoutMasterIdLst>
    <p:handoutMasterId r:id="rId10"/>
  </p:handoutMasterIdLst>
  <p:sldIdLst>
    <p:sldId id="2147481337" r:id="rId5"/>
    <p:sldId id="2147481341" r:id="rId6"/>
    <p:sldId id="2147481342" r:id="rId7"/>
    <p:sldId id="214748134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476F3E-2B2C-D02E-A927-755D46376812}" name="Elicia Ferrer" initials="EF" userId="ac7d01b8666ae590" providerId="Windows Live"/>
  <p188:author id="{BEF8CA72-6AE8-8AD8-5B9A-8F576BAC3FD5}" name="Janiga, Jaimee" initials="JJ" userId="S::7nj@ornl.gov::c06abe94-9752-4f8c-96a2-49efdf1f63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7DBA00"/>
    <a:srgbClr val="FF9E1B"/>
    <a:srgbClr val="7DC397"/>
    <a:srgbClr val="4E008E"/>
    <a:srgbClr val="B50094"/>
    <a:srgbClr val="FE5000"/>
    <a:srgbClr val="ED9634"/>
    <a:srgbClr val="005776"/>
    <a:srgbClr val="006B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6F9C5-0BA0-6945-8ED0-643D3C727FBB}" v="4" dt="2026-07-14T12:48:02.550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9" autoAdjust="0"/>
    <p:restoredTop sz="93434" autoAdjust="0"/>
  </p:normalViewPr>
  <p:slideViewPr>
    <p:cSldViewPr snapToGrid="0">
      <p:cViewPr varScale="1">
        <p:scale>
          <a:sx n="69" d="100"/>
          <a:sy n="69" d="100"/>
        </p:scale>
        <p:origin x="4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05" d="100"/>
          <a:sy n="105" d="100"/>
        </p:scale>
        <p:origin x="4152" y="-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F454D-A2FB-E28F-62C2-050A837E17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6BDF-7ADA-716C-F5CA-D157A094BB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14C3F-0AF5-DA4C-84F9-3990FF0B58A5}" type="datetimeFigureOut">
              <a:rPr lang="en-US" smtClean="0">
                <a:latin typeface="Aptos" panose="020B0004020202020204" pitchFamily="34" charset="0"/>
              </a:rPr>
              <a:t>7/24/2026</a:t>
            </a:fld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7AF2-C6EF-69B3-EBC0-F3BECE6632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AEBCA-6ABE-1DFD-7AA8-A3B2F1B63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AB913-EDAA-C746-870D-9B7877FA5A85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90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9F2D4C33-E834-184F-A85B-4B1A7D742F82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CEEA2CD3-FB95-D94F-9F04-F9F995EAB8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3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77446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b="0" dirty="0">
              <a:latin typeface="Aptos Light" panose="020B0004020202020204" pitchFamily="34" charset="0"/>
              <a:ea typeface="Aptos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75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38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Duration:</a:t>
            </a:r>
            <a:r>
              <a:rPr lang="en-US" sz="1200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 Technology Innovation Program (TIP) funding is provided in annual rounds.  Year 2 funding will be made available for the top performing project(s) from Year 1 that result in technology IP licenses.</a:t>
            </a:r>
            <a:endParaRPr kumimoji="0" 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Type: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Identify the funded work or purchases (%FTE, others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, supplies, equip., materials, travel, computers and computing equipment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baseline="30000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	2</a:t>
            </a:r>
            <a:r>
              <a:rPr lang="en-US" sz="1200" b="1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Others:</a:t>
            </a:r>
            <a:r>
              <a:rPr lang="en-US" sz="1200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 If several investigators are contributing services at a minor level group them as “Others”.</a:t>
            </a:r>
            <a:endParaRPr lang="en-US" sz="1200" dirty="0">
              <a:latin typeface="Arial" panose="020B0604020202020204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2713" algn="l"/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baseline="30000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		3</a:t>
            </a: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Computing equipment: </a:t>
            </a:r>
            <a:r>
              <a:rPr kumimoji="0" lang="en-US" sz="1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Estimate the budget of computing equipment needed for successful completion of the project. Computers for general needs cannot be purchased with TIP funds.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12713" algn="l"/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baseline="30000" dirty="0">
                <a:latin typeface="Arial" panose="020B0604020202020204" pitchFamily="34" charset="0"/>
                <a:cs typeface="Arial" pitchFamily="34" charset="0"/>
              </a:rPr>
              <a:t>4</a:t>
            </a:r>
            <a:r>
              <a:rPr lang="en-US" sz="1200" b="1" dirty="0">
                <a:latin typeface="Arial" panose="020B0604020202020204" pitchFamily="34" charset="0"/>
                <a:cs typeface="Arial" pitchFamily="34" charset="0"/>
              </a:rPr>
              <a:t>Overhead:</a:t>
            </a:r>
            <a:r>
              <a:rPr lang="en-US" sz="1200" dirty="0">
                <a:latin typeface="Arial" panose="020B0604020202020204" pitchFamily="34" charset="0"/>
                <a:cs typeface="Arial" pitchFamily="34" charset="0"/>
              </a:rPr>
              <a:t>  Apply normal org burden, but do not apply laboratory overhead.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2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5-P07743 - Edited by Laddy Fields&#10;&#10;Drone Mission - Aerial view of ORNL's east Campus Quad facing southwest.&#10;&#10;This image has been reviewed by an ORNL Releasing Official and is approved for public release, May 19, 2025.">
            <a:extLst>
              <a:ext uri="{FF2B5EF4-FFF2-40B4-BE49-F238E27FC236}">
                <a16:creationId xmlns:a16="http://schemas.microsoft.com/office/drawing/2014/main" id="{01F17512-BEEB-E940-3B9F-9FDBDB2121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/>
          <p:nvPr userDrawn="1"/>
        </p:nvSpPr>
        <p:spPr>
          <a:xfrm>
            <a:off x="896615" y="843778"/>
            <a:ext cx="5199385" cy="519938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  <a:ea typeface="Aptos" panose="02000000000000000000" pitchFamily="2" charset="0"/>
            </a:endParaRPr>
          </a:p>
        </p:txBody>
      </p:sp>
      <p:sp>
        <p:nvSpPr>
          <p:cNvPr id="1989" name="Title 1">
            <a:extLst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15450" y="2254309"/>
            <a:ext cx="451713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1990" name="Subtitle 2">
            <a:extLst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91" name="Text Placeholder 1961">
            <a:extLst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92" name="Text Placeholder 1963">
            <a:extLst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Aptos Light" panose="020B0004020202020204" pitchFamily="34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4748"/>
              </a:solidFill>
              <a:latin typeface="Aptos Light" panose="020B0004020202020204" pitchFamily="34" charset="0"/>
            </a:endParaRPr>
          </a:p>
        </p:txBody>
      </p:sp>
      <p:sp>
        <p:nvSpPr>
          <p:cNvPr id="1994" name="Text Placeholder 47">
            <a:extLst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D47623-818A-705B-B821-F058B0BC95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89A2CD0-329A-AD66-9E82-A1DB6C6F93A4}"/>
              </a:ext>
            </a:extLst>
          </p:cNvPr>
          <p:cNvGrpSpPr/>
          <p:nvPr userDrawn="1"/>
        </p:nvGrpSpPr>
        <p:grpSpPr>
          <a:xfrm>
            <a:off x="1177351" y="5301081"/>
            <a:ext cx="4558967" cy="438406"/>
            <a:chOff x="1177351" y="5301081"/>
            <a:chExt cx="4558967" cy="4384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CD3442-F157-B130-4C8C-C1C6563CA624}"/>
                </a:ext>
              </a:extLst>
            </p:cNvPr>
            <p:cNvSpPr txBox="1"/>
            <p:nvPr userDrawn="1"/>
          </p:nvSpPr>
          <p:spPr>
            <a:xfrm>
              <a:off x="2688336" y="5344755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7" name="Picture 6" descr="Shape&#10;&#10;AI-generated content may be incorrect.">
              <a:extLst>
                <a:ext uri="{FF2B5EF4-FFF2-40B4-BE49-F238E27FC236}">
                  <a16:creationId xmlns:a16="http://schemas.microsoft.com/office/drawing/2014/main" id="{442A6DA9-8C3C-81D4-6B8A-D16A90DD9B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77351" y="5301081"/>
              <a:ext cx="1526303" cy="43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075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25B3089-0A48-0AC4-08EB-C9D35463AC28}"/>
              </a:ext>
            </a:extLst>
          </p:cNvPr>
          <p:cNvSpPr/>
          <p:nvPr userDrawn="1"/>
        </p:nvSpPr>
        <p:spPr>
          <a:xfrm>
            <a:off x="385763" y="6015038"/>
            <a:ext cx="6899620" cy="575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8CF54AA-7F0F-038A-AAAF-AD02F6AA5A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96615 w 12192000"/>
              <a:gd name="connsiteY0" fmla="*/ 829307 h 6858000"/>
              <a:gd name="connsiteX1" fmla="*/ 896615 w 12192000"/>
              <a:gd name="connsiteY1" fmla="*/ 6028692 h 6858000"/>
              <a:gd name="connsiteX2" fmla="*/ 6096000 w 12192000"/>
              <a:gd name="connsiteY2" fmla="*/ 6028692 h 6858000"/>
              <a:gd name="connsiteX3" fmla="*/ 6096000 w 12192000"/>
              <a:gd name="connsiteY3" fmla="*/ 82930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896615" y="829307"/>
                </a:moveTo>
                <a:lnTo>
                  <a:pt x="896615" y="6028692"/>
                </a:lnTo>
                <a:lnTo>
                  <a:pt x="6096000" y="6028692"/>
                </a:lnTo>
                <a:lnTo>
                  <a:pt x="6096000" y="82930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B6A4265-6FDC-7301-BD87-6CE0C2335A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15450" y="2254309"/>
            <a:ext cx="45180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43" name="Text Placeholder 1961">
            <a:extLst>
              <a:ext uri="{FF2B5EF4-FFF2-40B4-BE49-F238E27FC236}">
                <a16:creationId xmlns:a16="http://schemas.microsoft.com/office/drawing/2014/main" id="{1061D354-0A2B-B951-F1BE-22D610DF3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80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67997A1-375F-1726-DF9D-576251F05B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sp>
        <p:nvSpPr>
          <p:cNvPr id="7" name="Text Placeholder 1963">
            <a:extLst>
              <a:ext uri="{FF2B5EF4-FFF2-40B4-BE49-F238E27FC236}">
                <a16:creationId xmlns:a16="http://schemas.microsoft.com/office/drawing/2014/main" id="{3B1CF4E8-BDC8-B225-DB1D-63D508EC38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67FCB669-B9C0-1E9C-516B-D8A804C4C3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7B51F-DF85-E9E0-712B-297B83E802F9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4748"/>
              </a:solidFill>
              <a:latin typeface="Aptos Light" panose="020B00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BE50A6-F625-0BB9-2DA3-BD2A1D5A1C99}"/>
              </a:ext>
            </a:extLst>
          </p:cNvPr>
          <p:cNvGrpSpPr/>
          <p:nvPr userDrawn="1"/>
        </p:nvGrpSpPr>
        <p:grpSpPr>
          <a:xfrm>
            <a:off x="1177351" y="5301081"/>
            <a:ext cx="4558967" cy="438406"/>
            <a:chOff x="1177351" y="5301081"/>
            <a:chExt cx="4558967" cy="4384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46153C1-920A-60DA-AB29-D732EC8AD9DD}"/>
                </a:ext>
              </a:extLst>
            </p:cNvPr>
            <p:cNvSpPr txBox="1"/>
            <p:nvPr userDrawn="1"/>
          </p:nvSpPr>
          <p:spPr>
            <a:xfrm>
              <a:off x="2688336" y="5344755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tx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4" name="Picture 3" descr="Shape&#10;&#10;AI-generated content may be incorrect.">
              <a:extLst>
                <a:ext uri="{FF2B5EF4-FFF2-40B4-BE49-F238E27FC236}">
                  <a16:creationId xmlns:a16="http://schemas.microsoft.com/office/drawing/2014/main" id="{2B8A78FF-CBBF-0925-0C04-834044AF1A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77351" y="5301081"/>
              <a:ext cx="1526303" cy="438406"/>
            </a:xfrm>
            <a:prstGeom prst="rect">
              <a:avLst/>
            </a:prstGeom>
          </p:spPr>
        </p:pic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9461967E-4A3D-99FD-12D2-D204FBEBAF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362030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Portrai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85">
            <a:extLst>
              <a:ext uri="{FF2B5EF4-FFF2-40B4-BE49-F238E27FC236}">
                <a16:creationId xmlns:a16="http://schemas.microsoft.com/office/drawing/2014/main" id="{B10B79AB-DA35-C9D9-2529-6A8AA0E50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0"/>
            <a:ext cx="6045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45200" y="0"/>
            <a:ext cx="61468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F2EFFC1-8D00-2422-39D7-701FD30A5CDF}"/>
              </a:ext>
            </a:extLst>
          </p:cNvPr>
          <p:cNvGrpSpPr/>
          <p:nvPr userDrawn="1"/>
        </p:nvGrpSpPr>
        <p:grpSpPr>
          <a:xfrm>
            <a:off x="859536" y="6108192"/>
            <a:ext cx="4556510" cy="438912"/>
            <a:chOff x="859536" y="6108192"/>
            <a:chExt cx="4556510" cy="4389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7F60E2-2A56-9EB3-6B56-9299A963E1AB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10" name="Picture 9" descr="Text&#10;&#10;AI-generated content may be incorrect.">
              <a:extLst>
                <a:ext uri="{FF2B5EF4-FFF2-40B4-BE49-F238E27FC236}">
                  <a16:creationId xmlns:a16="http://schemas.microsoft.com/office/drawing/2014/main" id="{E05B343D-85E7-C42A-D96E-37A8AB109C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013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Custom Landscap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0FE843FE-B2D6-28A8-6229-2F4F14E7EA05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5609063 w 12192000"/>
              <a:gd name="connsiteY5" fmla="*/ 1505414 h 6858000"/>
              <a:gd name="connsiteX6" fmla="*/ 5609063 w 12192000"/>
              <a:gd name="connsiteY6" fmla="*/ 5352586 h 6858000"/>
              <a:gd name="connsiteX7" fmla="*/ 11452302 w 12192000"/>
              <a:gd name="connsiteY7" fmla="*/ 5352586 h 6858000"/>
              <a:gd name="connsiteX8" fmla="*/ 11452302 w 12192000"/>
              <a:gd name="connsiteY8" fmla="*/ 1505414 h 6858000"/>
              <a:gd name="connsiteX9" fmla="*/ 5609063 w 12192000"/>
              <a:gd name="connsiteY9" fmla="*/ 15054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(Text size no larger than 36pt)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09063" y="1481958"/>
            <a:ext cx="5843239" cy="38916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8EA40F8-43C7-91B8-DB7E-DDD5E2408A38}"/>
              </a:ext>
            </a:extLst>
          </p:cNvPr>
          <p:cNvGrpSpPr/>
          <p:nvPr userDrawn="1"/>
        </p:nvGrpSpPr>
        <p:grpSpPr>
          <a:xfrm>
            <a:off x="859536" y="6108192"/>
            <a:ext cx="4556510" cy="438912"/>
            <a:chOff x="859536" y="6108192"/>
            <a:chExt cx="4556510" cy="43891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52F9E3-A27C-53E8-B52E-49794F69B0DB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7" name="Picture 6" descr="Text&#10;&#10;AI-generated content may be incorrect.">
              <a:extLst>
                <a:ext uri="{FF2B5EF4-FFF2-40B4-BE49-F238E27FC236}">
                  <a16:creationId xmlns:a16="http://schemas.microsoft.com/office/drawing/2014/main" id="{DB53C206-3DA3-C765-EB66-A35BBF7054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88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Standard Tex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285">
            <a:extLst>
              <a:ext uri="{FF2B5EF4-FFF2-40B4-BE49-F238E27FC236}">
                <a16:creationId xmlns:a16="http://schemas.microsoft.com/office/drawing/2014/main" id="{A95873F9-24C5-691B-E0D0-B31D39B7FB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7656" y="2292076"/>
            <a:ext cx="103966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Title: Best Title Option for Longer Presentation Titles (Text Size no larger than 36pt and no smaller than 20pt)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6" y="4019391"/>
            <a:ext cx="103966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PRESENTED BY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6" y="1880997"/>
            <a:ext cx="103966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XXXX | LOCATION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656" y="4371534"/>
            <a:ext cx="10396685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7656" y="4881013"/>
            <a:ext cx="10396685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Aptos Light" panose="02000000000000000000" pitchFamily="2" charset="0"/>
                <a:ea typeface="Aptos Light" panose="02000000000000000000" pitchFamily="2" charset="0"/>
              </a:defRPr>
            </a:lvl5pPr>
          </a:lstStyle>
          <a:p>
            <a:pPr lvl="0"/>
            <a:r>
              <a:rPr lang="en-US" dirty="0"/>
              <a:t>Presenter Affiliation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8B2AD18-B7D9-77F5-D220-3EDA560B2C83}"/>
              </a:ext>
            </a:extLst>
          </p:cNvPr>
          <p:cNvGrpSpPr/>
          <p:nvPr userDrawn="1"/>
        </p:nvGrpSpPr>
        <p:grpSpPr>
          <a:xfrm>
            <a:off x="859536" y="6108192"/>
            <a:ext cx="4556510" cy="438912"/>
            <a:chOff x="859536" y="6108192"/>
            <a:chExt cx="4556510" cy="4389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E0B571-503C-1E4E-4585-513FD2198B27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9" name="Picture 8" descr="Text&#10;&#10;AI-generated content may be incorrect.">
              <a:extLst>
                <a:ext uri="{FF2B5EF4-FFF2-40B4-BE49-F238E27FC236}">
                  <a16:creationId xmlns:a16="http://schemas.microsoft.com/office/drawing/2014/main" id="{2FD5B24E-06B1-CD75-BC26-A89AA432FA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69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791-4F91-34B2-5F77-014A7A421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E7B4-2380-B18C-C8C1-09BD437D6B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11492432" cy="4061829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90023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Ke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5F232B-0EDE-9AF7-8505-73A82A1D984A}"/>
              </a:ext>
            </a:extLst>
          </p:cNvPr>
          <p:cNvSpPr/>
          <p:nvPr userDrawn="1"/>
        </p:nvSpPr>
        <p:spPr>
          <a:xfrm>
            <a:off x="0" y="0"/>
            <a:ext cx="46788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3899310" cy="19009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631247"/>
            <a:ext cx="3899310" cy="351113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0400C1-7283-FABD-80B9-45AEE1D1F5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78363" y="0"/>
            <a:ext cx="7513637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59A002-CFDF-58EF-945F-28E943618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7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Hexagon Cut-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FC910-D2D4-C5E3-4A8E-DB371D1637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9371" y="-23484"/>
            <a:ext cx="6737350" cy="6865418"/>
          </a:xfrm>
          <a:custGeom>
            <a:avLst/>
            <a:gdLst>
              <a:gd name="connsiteX0" fmla="*/ 4765422 w 6737350"/>
              <a:gd name="connsiteY0" fmla="*/ 5955463 h 6865418"/>
              <a:gd name="connsiteX1" fmla="*/ 6080062 w 6737350"/>
              <a:gd name="connsiteY1" fmla="*/ 5955463 h 6865418"/>
              <a:gd name="connsiteX2" fmla="*/ 6604382 w 6737350"/>
              <a:gd name="connsiteY2" fmla="*/ 6863640 h 6865418"/>
              <a:gd name="connsiteX3" fmla="*/ 4240721 w 6737350"/>
              <a:gd name="connsiteY3" fmla="*/ 6864212 h 6865418"/>
              <a:gd name="connsiteX4" fmla="*/ 2712846 w 6737350"/>
              <a:gd name="connsiteY4" fmla="*/ 4762425 h 6865418"/>
              <a:gd name="connsiteX5" fmla="*/ 4027487 w 6737350"/>
              <a:gd name="connsiteY5" fmla="*/ 4762425 h 6865418"/>
              <a:gd name="connsiteX6" fmla="*/ 4684776 w 6737350"/>
              <a:gd name="connsiteY6" fmla="*/ 5900917 h 6865418"/>
              <a:gd name="connsiteX7" fmla="*/ 4128579 w 6737350"/>
              <a:gd name="connsiteY7" fmla="*/ 6864339 h 6865418"/>
              <a:gd name="connsiteX8" fmla="*/ 2612326 w 6737350"/>
              <a:gd name="connsiteY8" fmla="*/ 6865418 h 6865418"/>
              <a:gd name="connsiteX9" fmla="*/ 2055495 w 6737350"/>
              <a:gd name="connsiteY9" fmla="*/ 5900917 h 6865418"/>
              <a:gd name="connsiteX10" fmla="*/ 4765421 w 6737350"/>
              <a:gd name="connsiteY10" fmla="*/ 3584563 h 6865418"/>
              <a:gd name="connsiteX11" fmla="*/ 6080061 w 6737350"/>
              <a:gd name="connsiteY11" fmla="*/ 3584563 h 6865418"/>
              <a:gd name="connsiteX12" fmla="*/ 6737350 w 6737350"/>
              <a:gd name="connsiteY12" fmla="*/ 4723055 h 6865418"/>
              <a:gd name="connsiteX13" fmla="*/ 6080061 w 6737350"/>
              <a:gd name="connsiteY13" fmla="*/ 5861546 h 6865418"/>
              <a:gd name="connsiteX14" fmla="*/ 4765421 w 6737350"/>
              <a:gd name="connsiteY14" fmla="*/ 5861546 h 6865418"/>
              <a:gd name="connsiteX15" fmla="*/ 4108069 w 6737350"/>
              <a:gd name="connsiteY15" fmla="*/ 4723055 h 6865418"/>
              <a:gd name="connsiteX16" fmla="*/ 2712846 w 6737350"/>
              <a:gd name="connsiteY16" fmla="*/ 2395463 h 6865418"/>
              <a:gd name="connsiteX17" fmla="*/ 4027487 w 6737350"/>
              <a:gd name="connsiteY17" fmla="*/ 2395463 h 6865418"/>
              <a:gd name="connsiteX18" fmla="*/ 4684776 w 6737350"/>
              <a:gd name="connsiteY18" fmla="*/ 3533955 h 6865418"/>
              <a:gd name="connsiteX19" fmla="*/ 4027487 w 6737350"/>
              <a:gd name="connsiteY19" fmla="*/ 4672446 h 6865418"/>
              <a:gd name="connsiteX20" fmla="*/ 2712846 w 6737350"/>
              <a:gd name="connsiteY20" fmla="*/ 4672446 h 6865418"/>
              <a:gd name="connsiteX21" fmla="*/ 2055495 w 6737350"/>
              <a:gd name="connsiteY21" fmla="*/ 3533955 h 6865418"/>
              <a:gd name="connsiteX22" fmla="*/ 657289 w 6737350"/>
              <a:gd name="connsiteY22" fmla="*/ 1217538 h 6865418"/>
              <a:gd name="connsiteX23" fmla="*/ 1971929 w 6737350"/>
              <a:gd name="connsiteY23" fmla="*/ 1217538 h 6865418"/>
              <a:gd name="connsiteX24" fmla="*/ 2629281 w 6737350"/>
              <a:gd name="connsiteY24" fmla="*/ 2356092 h 6865418"/>
              <a:gd name="connsiteX25" fmla="*/ 1971929 w 6737350"/>
              <a:gd name="connsiteY25" fmla="*/ 3494584 h 6865418"/>
              <a:gd name="connsiteX26" fmla="*/ 657289 w 6737350"/>
              <a:gd name="connsiteY26" fmla="*/ 3494584 h 6865418"/>
              <a:gd name="connsiteX27" fmla="*/ 0 w 6737350"/>
              <a:gd name="connsiteY27" fmla="*/ 2356092 h 6865418"/>
              <a:gd name="connsiteX28" fmla="*/ 4765421 w 6737350"/>
              <a:gd name="connsiteY28" fmla="*/ 1217537 h 6865418"/>
              <a:gd name="connsiteX29" fmla="*/ 6080061 w 6737350"/>
              <a:gd name="connsiteY29" fmla="*/ 1217537 h 6865418"/>
              <a:gd name="connsiteX30" fmla="*/ 6737350 w 6737350"/>
              <a:gd name="connsiteY30" fmla="*/ 2356092 h 6865418"/>
              <a:gd name="connsiteX31" fmla="*/ 6080061 w 6737350"/>
              <a:gd name="connsiteY31" fmla="*/ 3494584 h 6865418"/>
              <a:gd name="connsiteX32" fmla="*/ 4765421 w 6737350"/>
              <a:gd name="connsiteY32" fmla="*/ 3494584 h 6865418"/>
              <a:gd name="connsiteX33" fmla="*/ 4108069 w 6737350"/>
              <a:gd name="connsiteY33" fmla="*/ 2356092 h 6865418"/>
              <a:gd name="connsiteX34" fmla="*/ 2712846 w 6737350"/>
              <a:gd name="connsiteY34" fmla="*/ 39549 h 6865418"/>
              <a:gd name="connsiteX35" fmla="*/ 4027487 w 6737350"/>
              <a:gd name="connsiteY35" fmla="*/ 39549 h 6865418"/>
              <a:gd name="connsiteX36" fmla="*/ 4684776 w 6737350"/>
              <a:gd name="connsiteY36" fmla="*/ 1178041 h 6865418"/>
              <a:gd name="connsiteX37" fmla="*/ 4027487 w 6737350"/>
              <a:gd name="connsiteY37" fmla="*/ 2316532 h 6865418"/>
              <a:gd name="connsiteX38" fmla="*/ 2712846 w 6737350"/>
              <a:gd name="connsiteY38" fmla="*/ 2316532 h 6865418"/>
              <a:gd name="connsiteX39" fmla="*/ 2055495 w 6737350"/>
              <a:gd name="connsiteY39" fmla="*/ 1178041 h 6865418"/>
              <a:gd name="connsiteX40" fmla="*/ 13492 w 6737350"/>
              <a:gd name="connsiteY40" fmla="*/ 0 h 6865418"/>
              <a:gd name="connsiteX41" fmla="*/ 2631396 w 6737350"/>
              <a:gd name="connsiteY41" fmla="*/ 13447 h 6865418"/>
              <a:gd name="connsiteX42" fmla="*/ 1973010 w 6737350"/>
              <a:gd name="connsiteY42" fmla="*/ 1137655 h 6865418"/>
              <a:gd name="connsiteX43" fmla="*/ 658369 w 6737350"/>
              <a:gd name="connsiteY43" fmla="*/ 1137655 h 68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737350" h="6865418">
                <a:moveTo>
                  <a:pt x="4765422" y="5955463"/>
                </a:moveTo>
                <a:lnTo>
                  <a:pt x="6080062" y="5955463"/>
                </a:lnTo>
                <a:lnTo>
                  <a:pt x="6604382" y="6863640"/>
                </a:lnTo>
                <a:lnTo>
                  <a:pt x="4240721" y="6864212"/>
                </a:lnTo>
                <a:close/>
                <a:moveTo>
                  <a:pt x="2712846" y="4762425"/>
                </a:moveTo>
                <a:lnTo>
                  <a:pt x="4027487" y="4762425"/>
                </a:lnTo>
                <a:lnTo>
                  <a:pt x="4684776" y="5900917"/>
                </a:lnTo>
                <a:lnTo>
                  <a:pt x="4128579" y="6864339"/>
                </a:lnTo>
                <a:lnTo>
                  <a:pt x="2612326" y="6865418"/>
                </a:lnTo>
                <a:lnTo>
                  <a:pt x="2055495" y="5900917"/>
                </a:lnTo>
                <a:close/>
                <a:moveTo>
                  <a:pt x="4765421" y="3584563"/>
                </a:moveTo>
                <a:lnTo>
                  <a:pt x="6080061" y="3584563"/>
                </a:lnTo>
                <a:lnTo>
                  <a:pt x="6737350" y="4723055"/>
                </a:lnTo>
                <a:lnTo>
                  <a:pt x="6080061" y="5861546"/>
                </a:lnTo>
                <a:lnTo>
                  <a:pt x="4765421" y="5861546"/>
                </a:lnTo>
                <a:lnTo>
                  <a:pt x="4108069" y="4723055"/>
                </a:lnTo>
                <a:close/>
                <a:moveTo>
                  <a:pt x="2712846" y="2395463"/>
                </a:moveTo>
                <a:lnTo>
                  <a:pt x="4027487" y="2395463"/>
                </a:lnTo>
                <a:lnTo>
                  <a:pt x="4684776" y="3533955"/>
                </a:lnTo>
                <a:lnTo>
                  <a:pt x="4027487" y="4672446"/>
                </a:lnTo>
                <a:lnTo>
                  <a:pt x="2712846" y="4672446"/>
                </a:lnTo>
                <a:lnTo>
                  <a:pt x="2055495" y="3533955"/>
                </a:lnTo>
                <a:close/>
                <a:moveTo>
                  <a:pt x="657289" y="1217538"/>
                </a:moveTo>
                <a:lnTo>
                  <a:pt x="1971929" y="1217538"/>
                </a:lnTo>
                <a:lnTo>
                  <a:pt x="2629281" y="2356092"/>
                </a:lnTo>
                <a:lnTo>
                  <a:pt x="1971929" y="3494584"/>
                </a:lnTo>
                <a:lnTo>
                  <a:pt x="657289" y="3494584"/>
                </a:lnTo>
                <a:lnTo>
                  <a:pt x="0" y="2356092"/>
                </a:lnTo>
                <a:close/>
                <a:moveTo>
                  <a:pt x="4765421" y="1217537"/>
                </a:moveTo>
                <a:lnTo>
                  <a:pt x="6080061" y="1217537"/>
                </a:lnTo>
                <a:lnTo>
                  <a:pt x="6737350" y="2356092"/>
                </a:lnTo>
                <a:lnTo>
                  <a:pt x="6080061" y="3494584"/>
                </a:lnTo>
                <a:lnTo>
                  <a:pt x="4765421" y="3494584"/>
                </a:lnTo>
                <a:lnTo>
                  <a:pt x="4108069" y="2356092"/>
                </a:lnTo>
                <a:close/>
                <a:moveTo>
                  <a:pt x="2712846" y="39549"/>
                </a:moveTo>
                <a:lnTo>
                  <a:pt x="4027487" y="39549"/>
                </a:lnTo>
                <a:lnTo>
                  <a:pt x="4684776" y="1178041"/>
                </a:lnTo>
                <a:lnTo>
                  <a:pt x="4027487" y="2316532"/>
                </a:lnTo>
                <a:lnTo>
                  <a:pt x="2712846" y="2316532"/>
                </a:lnTo>
                <a:lnTo>
                  <a:pt x="2055495" y="1178041"/>
                </a:lnTo>
                <a:close/>
                <a:moveTo>
                  <a:pt x="13492" y="0"/>
                </a:moveTo>
                <a:lnTo>
                  <a:pt x="2631396" y="13447"/>
                </a:lnTo>
                <a:lnTo>
                  <a:pt x="1973010" y="1137655"/>
                </a:lnTo>
                <a:lnTo>
                  <a:pt x="658369" y="113765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4412934" cy="1772793"/>
          </a:xfrm>
        </p:spPr>
        <p:txBody>
          <a:bodyPr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3" y="2514601"/>
            <a:ext cx="4412934" cy="3756990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355420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tacked 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FCAA6D76-9D9F-EEEC-3A19-B8672A58A5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5400" y="-6350"/>
            <a:ext cx="4546600" cy="2155825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1" name="Picture Placeholder 120">
            <a:extLst>
              <a:ext uri="{FF2B5EF4-FFF2-40B4-BE49-F238E27FC236}">
                <a16:creationId xmlns:a16="http://schemas.microsoft.com/office/drawing/2014/main" id="{374474B3-1A16-3799-2DA6-5E1F9B62F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5400" y="2352675"/>
            <a:ext cx="4546600" cy="2149475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0285EA67-185C-FA9B-F112-0DEA71BAF9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5400" y="4703763"/>
            <a:ext cx="4546600" cy="215423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1006475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4693" y="1817559"/>
            <a:ext cx="6763894" cy="432482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6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/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</p:spTree>
    <p:extLst>
      <p:ext uri="{BB962C8B-B14F-4D97-AF65-F5344CB8AC3E}">
        <p14:creationId xmlns:p14="http://schemas.microsoft.com/office/powerpoint/2010/main" val="411557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F52CC-99F4-74FB-3BF5-8DD70D4268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</p:spTree>
    <p:extLst>
      <p:ext uri="{BB962C8B-B14F-4D97-AF65-F5344CB8AC3E}">
        <p14:creationId xmlns:p14="http://schemas.microsoft.com/office/powerpoint/2010/main" val="2409650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52954"/>
            <a:ext cx="3650690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1652954"/>
            <a:ext cx="364642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1652954"/>
            <a:ext cx="364739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172851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F52CC-99F4-74FB-3BF5-8DD70D4268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908273-EAF5-86C7-7DA1-4B3A63FA40A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52954"/>
            <a:ext cx="3650690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8AC23A-F6F3-1406-A41C-A53D31762F5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1652954"/>
            <a:ext cx="364642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990C39-D2EB-2C24-D563-540A447C898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1652954"/>
            <a:ext cx="3647391" cy="4156175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55018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29508"/>
            <a:ext cx="2743968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1629508"/>
            <a:ext cx="2740760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1629508"/>
            <a:ext cx="2741489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1629508"/>
            <a:ext cx="2737553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674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F099DB8-02EB-0BAA-D750-3A0693F28B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F1A98B-07FE-B21C-77B1-F780EBF12B12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F52CC-99F4-74FB-3BF5-8DD70D4268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54A7-39D8-F93F-8AB5-8AFDA80ABC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629508"/>
            <a:ext cx="2743968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33C006-27BF-E46C-6464-DF2AED8EF3C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1629508"/>
            <a:ext cx="2740760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72DE149-7914-DD03-AF2A-717A4DBC4C4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1629508"/>
            <a:ext cx="2741489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63E755-9A43-BCF9-FC26-D2B9312D44A8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1629508"/>
            <a:ext cx="2737553" cy="4179621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434581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51529"/>
            <a:ext cx="5528426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7905" y="2151529"/>
            <a:ext cx="5534113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E5D92591-51DF-3209-1704-154E381BA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5534113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1322623F-B85A-91ED-9131-7E60FBA08A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429" y="1636672"/>
            <a:ext cx="5534113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000835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365069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2191870"/>
            <a:ext cx="364642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2191870"/>
            <a:ext cx="364739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Text Placeholder 212">
            <a:extLst>
              <a:ext uri="{FF2B5EF4-FFF2-40B4-BE49-F238E27FC236}">
                <a16:creationId xmlns:a16="http://schemas.microsoft.com/office/drawing/2014/main" id="{0EDE83FF-6880-0C2B-F666-A52972148F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8CEEB1B0-74A1-A9A5-0E01-2E2E2380F2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1283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1B1FC136-726A-E90A-AA01-55CC4CA7F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9995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401445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2743968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2191870"/>
            <a:ext cx="274076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2191870"/>
            <a:ext cx="2741489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2191870"/>
            <a:ext cx="2737553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4" name="Text Placeholder 212">
            <a:extLst>
              <a:ext uri="{FF2B5EF4-FFF2-40B4-BE49-F238E27FC236}">
                <a16:creationId xmlns:a16="http://schemas.microsoft.com/office/drawing/2014/main" id="{A8FB3702-489D-7133-5029-0EED83D742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2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sp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5" name="Text Placeholder 212">
            <a:extLst>
              <a:ext uri="{FF2B5EF4-FFF2-40B4-BE49-F238E27FC236}">
                <a16:creationId xmlns:a16="http://schemas.microsoft.com/office/drawing/2014/main" id="{A472ABD6-D4AF-51A3-D274-EB02E1F7D6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70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2">
            <a:extLst>
              <a:ext uri="{FF2B5EF4-FFF2-40B4-BE49-F238E27FC236}">
                <a16:creationId xmlns:a16="http://schemas.microsoft.com/office/drawing/2014/main" id="{9B2846D9-98D8-E207-8370-E81B28729B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476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7" name="Text Placeholder 212">
            <a:extLst>
              <a:ext uri="{FF2B5EF4-FFF2-40B4-BE49-F238E27FC236}">
                <a16:creationId xmlns:a16="http://schemas.microsoft.com/office/drawing/2014/main" id="{5A4E93FB-938D-13A6-A78B-46943641C3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957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49818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A0731A8F-A5F9-DD23-C897-CABCBA301C32}"/>
              </a:ext>
            </a:extLst>
          </p:cNvPr>
          <p:cNvSpPr/>
          <p:nvPr userDrawn="1"/>
        </p:nvSpPr>
        <p:spPr>
          <a:xfrm>
            <a:off x="0" y="2874040"/>
            <a:ext cx="12192000" cy="3983959"/>
          </a:xfrm>
          <a:custGeom>
            <a:avLst/>
            <a:gdLst>
              <a:gd name="connsiteX0" fmla="*/ 0 w 12192000"/>
              <a:gd name="connsiteY0" fmla="*/ 0 h 3728466"/>
              <a:gd name="connsiteX1" fmla="*/ 12192000 w 12192000"/>
              <a:gd name="connsiteY1" fmla="*/ 0 h 3728466"/>
              <a:gd name="connsiteX2" fmla="*/ 12192000 w 12192000"/>
              <a:gd name="connsiteY2" fmla="*/ 3728466 h 3728466"/>
              <a:gd name="connsiteX3" fmla="*/ 0 w 12192000"/>
              <a:gd name="connsiteY3" fmla="*/ 3728466 h 372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28466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61" name="Picture Placeholder 360">
            <a:extLst>
              <a:ext uri="{FF2B5EF4-FFF2-40B4-BE49-F238E27FC236}">
                <a16:creationId xmlns:a16="http://schemas.microsoft.com/office/drawing/2014/main" id="{BDA3E75D-82B9-D08B-2F03-A683518AC717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69848" y="1645920"/>
            <a:ext cx="2923908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2" name="Picture Placeholder 360">
            <a:extLst>
              <a:ext uri="{FF2B5EF4-FFF2-40B4-BE49-F238E27FC236}">
                <a16:creationId xmlns:a16="http://schemas.microsoft.com/office/drawing/2014/main" id="{B61B4DFE-D0E9-B57A-176A-09A1C664C95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3600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3" name="Picture Placeholder 360">
            <a:extLst>
              <a:ext uri="{FF2B5EF4-FFF2-40B4-BE49-F238E27FC236}">
                <a16:creationId xmlns:a16="http://schemas.microsoft.com/office/drawing/2014/main" id="{174E554B-4BD8-EF29-58CE-4FB93A18B3C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20216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6634D6-1ACC-26AC-A117-291B7F184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6D4833-11C2-F073-A788-EE5CF0875463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39855A-2E65-D041-0145-9228A25DEC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87DB2D28-593F-795D-4528-4F36687F3F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7376F770-679C-5A79-745B-C16311760F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BE984742-C45A-DB0D-15F8-E82D7B9C2F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068199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285">
            <a:extLst>
              <a:ext uri="{FF2B5EF4-FFF2-40B4-BE49-F238E27FC236}">
                <a16:creationId xmlns:a16="http://schemas.microsoft.com/office/drawing/2014/main" id="{33C27B49-A27E-0D8E-47DA-07C46ED6F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88639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Picture Placeholder 360">
            <a:extLst>
              <a:ext uri="{FF2B5EF4-FFF2-40B4-BE49-F238E27FC236}">
                <a16:creationId xmlns:a16="http://schemas.microsoft.com/office/drawing/2014/main" id="{B6C3CAB0-9F19-5F7D-262F-075849CDF9D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69848" y="1645920"/>
            <a:ext cx="2923908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F6D66F89-B82D-509A-9415-1271514F009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3600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5B2950D5-5445-9250-7264-D5F1C7CFF62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20216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64">
            <a:extLst>
              <a:ext uri="{FF2B5EF4-FFF2-40B4-BE49-F238E27FC236}">
                <a16:creationId xmlns:a16="http://schemas.microsoft.com/office/drawing/2014/main" id="{00EE450A-4A48-CD8F-195B-EFA7253FE3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5" name="Text Placeholder 364">
            <a:extLst>
              <a:ext uri="{FF2B5EF4-FFF2-40B4-BE49-F238E27FC236}">
                <a16:creationId xmlns:a16="http://schemas.microsoft.com/office/drawing/2014/main" id="{6D24BE53-367A-F7EE-4A10-86C720DD94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6" name="Text Placeholder 364">
            <a:extLst>
              <a:ext uri="{FF2B5EF4-FFF2-40B4-BE49-F238E27FC236}">
                <a16:creationId xmlns:a16="http://schemas.microsoft.com/office/drawing/2014/main" id="{C5AB6D40-14EE-39E1-1C1E-DD4771CAD9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652793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917575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Picture Placeholder 360">
            <a:extLst>
              <a:ext uri="{FF2B5EF4-FFF2-40B4-BE49-F238E27FC236}">
                <a16:creationId xmlns:a16="http://schemas.microsoft.com/office/drawing/2014/main" id="{62FE7C8B-D853-CA32-F02A-E0E431FE24C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69848" y="1645920"/>
            <a:ext cx="2923908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25985483-66E5-0277-9E8E-8234D001A48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3600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E1C6DB72-7F04-7416-51DB-F05F0035A595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202168" y="1645920"/>
            <a:ext cx="2926080" cy="292608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64">
            <a:extLst>
              <a:ext uri="{FF2B5EF4-FFF2-40B4-BE49-F238E27FC236}">
                <a16:creationId xmlns:a16="http://schemas.microsoft.com/office/drawing/2014/main" id="{D0DEB0A1-96DC-E93B-DFED-C24D86572D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5024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5" name="Text Placeholder 364">
            <a:extLst>
              <a:ext uri="{FF2B5EF4-FFF2-40B4-BE49-F238E27FC236}">
                <a16:creationId xmlns:a16="http://schemas.microsoft.com/office/drawing/2014/main" id="{1A9B287A-BCA2-477B-B96F-5895AA3949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6" name="Text Placeholder 364">
            <a:extLst>
              <a:ext uri="{FF2B5EF4-FFF2-40B4-BE49-F238E27FC236}">
                <a16:creationId xmlns:a16="http://schemas.microsoft.com/office/drawing/2014/main" id="{058C8352-E125-59CC-3CDA-4422103AE8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8200" y="4727448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96653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Seri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17" name="Picture Placeholder 122">
            <a:extLst>
              <a:ext uri="{FF2B5EF4-FFF2-40B4-BE49-F238E27FC236}">
                <a16:creationId xmlns:a16="http://schemas.microsoft.com/office/drawing/2014/main" id="{87D78755-2DCD-D8CC-0E1B-26B8798C9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07498" y="1371574"/>
            <a:ext cx="3075236" cy="1490472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22">
            <a:extLst>
              <a:ext uri="{FF2B5EF4-FFF2-40B4-BE49-F238E27FC236}">
                <a16:creationId xmlns:a16="http://schemas.microsoft.com/office/drawing/2014/main" id="{A646BC9C-4F8B-B5BA-4137-4E5CE8FA2E8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51474" y="3039052"/>
            <a:ext cx="3075236" cy="1490472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22">
            <a:extLst>
              <a:ext uri="{FF2B5EF4-FFF2-40B4-BE49-F238E27FC236}">
                <a16:creationId xmlns:a16="http://schemas.microsoft.com/office/drawing/2014/main" id="{30C68DC1-70B2-C7B0-A2FE-80122E4F85A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196136" y="4707798"/>
            <a:ext cx="3075236" cy="1490472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46ACBB2B-C7F0-E810-9B2C-BD70D1820D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62830" y="1376146"/>
            <a:ext cx="1744662" cy="1485900"/>
          </a:xfrm>
          <a:solidFill>
            <a:schemeClr val="accent5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5AB8117-0D0B-F4A2-5D9D-8D07A6153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492" y="3043624"/>
            <a:ext cx="1744662" cy="1485900"/>
          </a:xfrm>
          <a:solidFill>
            <a:schemeClr val="accent4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269DCCB0-CA4C-C341-313C-4C6AB851C3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1474" y="4712370"/>
            <a:ext cx="1744662" cy="1485900"/>
          </a:xfrm>
          <a:solidFill>
            <a:schemeClr val="accent3"/>
          </a:solidFill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783067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Image Series Colo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80965" y="1758896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939E5704-91D7-1C33-1BB9-D89551BB48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0965" y="3911299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18357D60-C329-E014-7EC4-02AD7930A5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21865" y="1758896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360">
            <a:extLst>
              <a:ext uri="{FF2B5EF4-FFF2-40B4-BE49-F238E27FC236}">
                <a16:creationId xmlns:a16="http://schemas.microsoft.com/office/drawing/2014/main" id="{1823B7A0-FA70-81A4-C409-2C310328D2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21865" y="3911299"/>
            <a:ext cx="2194560" cy="1874520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4D16B10-4114-3D13-50FC-848A872439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4410" y="3911299"/>
            <a:ext cx="2192338" cy="1873250"/>
          </a:xfrm>
          <a:solidFill>
            <a:schemeClr val="accent6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69C9FFD-3BEB-F410-9877-CC941D3224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9527" y="1758896"/>
            <a:ext cx="2192338" cy="1873250"/>
          </a:xfrm>
          <a:solidFill>
            <a:schemeClr val="accent2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39CDA33-6D16-DEAF-0280-749663549D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9527" y="3911299"/>
            <a:ext cx="2192338" cy="1873250"/>
          </a:xfrm>
          <a:solidFill>
            <a:schemeClr val="accent4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FD3A4D06-1EC0-67D1-BF1F-4A91D1E341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4410" y="1758896"/>
            <a:ext cx="2192338" cy="1873250"/>
          </a:xfrm>
          <a:solidFill>
            <a:schemeClr val="tx2"/>
          </a:solidFill>
        </p:spPr>
        <p:txBody>
          <a:bodyPr lIns="182880" tIns="182880" rIns="182880"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26649671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Image Series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68099" y="1465385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26F353B8-FF4B-42ED-1CE7-EDC4F7EF61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68099" y="3012831"/>
            <a:ext cx="2658427" cy="656942"/>
          </a:xfrm>
          <a:solidFill>
            <a:schemeClr val="tx2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1" name="Picture Placeholder 360">
            <a:extLst>
              <a:ext uri="{FF2B5EF4-FFF2-40B4-BE49-F238E27FC236}">
                <a16:creationId xmlns:a16="http://schemas.microsoft.com/office/drawing/2014/main" id="{6E81FCDA-4DA3-AB4A-5D95-88A3FEFC3A2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68099" y="3960136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F669257-B949-89C3-AFAB-C056282DB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8099" y="5507582"/>
            <a:ext cx="2658427" cy="656942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7" name="Picture Placeholder 360">
            <a:extLst>
              <a:ext uri="{FF2B5EF4-FFF2-40B4-BE49-F238E27FC236}">
                <a16:creationId xmlns:a16="http://schemas.microsoft.com/office/drawing/2014/main" id="{13D2DA25-934B-21FF-2966-29EF546C48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66787" y="1465385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17D533C8-B6CD-B35B-9678-CFA2D4FF71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66787" y="3012831"/>
            <a:ext cx="2658427" cy="656942"/>
          </a:xfrm>
          <a:solidFill>
            <a:schemeClr val="accent3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19" name="Picture Placeholder 360">
            <a:extLst>
              <a:ext uri="{FF2B5EF4-FFF2-40B4-BE49-F238E27FC236}">
                <a16:creationId xmlns:a16="http://schemas.microsoft.com/office/drawing/2014/main" id="{FFFA52E8-8238-7D32-74C3-C442340BAC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66787" y="3960136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EAA931B9-F65E-5FA9-1A52-F298BEA03A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6787" y="5507582"/>
            <a:ext cx="2658427" cy="656942"/>
          </a:xfrm>
          <a:solidFill>
            <a:schemeClr val="accent4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1" name="Picture Placeholder 360">
            <a:extLst>
              <a:ext uri="{FF2B5EF4-FFF2-40B4-BE49-F238E27FC236}">
                <a16:creationId xmlns:a16="http://schemas.microsoft.com/office/drawing/2014/main" id="{E2163388-A63C-577D-E1F5-098DA5ECC07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065474" y="1465385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6A354D75-2850-EFEF-9B6E-16282EFCD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5474" y="3012831"/>
            <a:ext cx="2658427" cy="656942"/>
          </a:xfrm>
          <a:solidFill>
            <a:schemeClr val="accent6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23" name="Picture Placeholder 360">
            <a:extLst>
              <a:ext uri="{FF2B5EF4-FFF2-40B4-BE49-F238E27FC236}">
                <a16:creationId xmlns:a16="http://schemas.microsoft.com/office/drawing/2014/main" id="{FBABECBC-CDDA-6887-FB75-25BC231CEC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65474" y="3960136"/>
            <a:ext cx="2658427" cy="1547446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AA63FF33-3432-1D2E-53DE-B6F0895069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5474" y="5507582"/>
            <a:ext cx="2658427" cy="656942"/>
          </a:xfrm>
          <a:solidFill>
            <a:schemeClr val="tx1"/>
          </a:solidFill>
        </p:spPr>
        <p:txBody>
          <a:bodyPr lIns="91440" tIns="91440" rIns="91440" bIns="91440"/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</p:spTree>
    <p:extLst>
      <p:ext uri="{BB962C8B-B14F-4D97-AF65-F5344CB8AC3E}">
        <p14:creationId xmlns:p14="http://schemas.microsoft.com/office/powerpoint/2010/main" val="1858181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Portrait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10445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0079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9584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9218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0" name="Picture Placeholder 360">
            <a:extLst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08182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07640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06077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5711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4" name="Picture Placeholder 360">
            <a:extLst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03782" y="1682263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03416" y="3107592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" name="Picture Placeholder 360">
            <a:extLst>
              <a:ext uri="{FF2B5EF4-FFF2-40B4-BE49-F238E27FC236}">
                <a16:creationId xmlns:a16="http://schemas.microsoft.com/office/drawing/2014/main" id="{50C0265D-4C37-A6EB-018A-088C3665D77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10079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171DB7C-B77B-BA2F-D42D-E70799E1CF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9713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54228786-C065-7CF8-8C9C-C9622BDB5F7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409218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3BA11-280F-ED2F-8FE5-AD08B0D44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08852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1" name="Picture Placeholder 360">
            <a:extLst>
              <a:ext uri="{FF2B5EF4-FFF2-40B4-BE49-F238E27FC236}">
                <a16:creationId xmlns:a16="http://schemas.microsoft.com/office/drawing/2014/main" id="{D0FFE670-33BD-AB72-DB9E-26A7E5785E5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07816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6FD3033-3412-943B-9B60-3555F20EAC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07274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7" name="Picture Placeholder 360">
            <a:extLst>
              <a:ext uri="{FF2B5EF4-FFF2-40B4-BE49-F238E27FC236}">
                <a16:creationId xmlns:a16="http://schemas.microsoft.com/office/drawing/2014/main" id="{D90F4C59-A65F-7802-34A6-70D69C5041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05711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34846F9-F8EB-3656-08DF-03E1A00CD6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5345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9" name="Picture Placeholder 360">
            <a:extLst>
              <a:ext uri="{FF2B5EF4-FFF2-40B4-BE49-F238E27FC236}">
                <a16:creationId xmlns:a16="http://schemas.microsoft.com/office/drawing/2014/main" id="{9694CBBD-6AE6-ADDC-80FB-FDFA2458BCB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103416" y="3970677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DB0CCF3-7E0B-FACF-F244-CCF6EC2D93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3050" y="5396006"/>
            <a:ext cx="1412144" cy="321408"/>
          </a:xfrm>
        </p:spPr>
        <p:txBody>
          <a:bodyPr tIns="91440"/>
          <a:lstStyle>
            <a:lvl1pPr marL="0" indent="0">
              <a:buNone/>
              <a:defRPr sz="16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7933756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Portrait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46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One-sentence headline stating the main takeaway message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4D37D-9760-333D-5D98-7361CD68B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3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25194CC7-DFDD-41E3-3F16-A4BAED70D3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910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59FEBC2-FFA2-F082-C0B4-490D9C6E36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907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0" name="Picture Placeholder 360">
            <a:extLst>
              <a:ext uri="{FF2B5EF4-FFF2-40B4-BE49-F238E27FC236}">
                <a16:creationId xmlns:a16="http://schemas.microsoft.com/office/drawing/2014/main" id="{9E7760E5-8579-2ACD-19F1-A979EC595A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674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1DEBE6-249D-E1B1-4B52-A019B4494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71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EB7AC011-2F57-EC56-91F9-A965565A40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438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59762E5-F688-DBA8-4C37-B3A3C58F1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435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4" name="Picture Placeholder 360">
            <a:extLst>
              <a:ext uri="{FF2B5EF4-FFF2-40B4-BE49-F238E27FC236}">
                <a16:creationId xmlns:a16="http://schemas.microsoft.com/office/drawing/2014/main" id="{8A47F1D3-73AD-F467-48EE-D207477529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20291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A73141-DACC-B694-EAA5-D499AAA41A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9925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7" name="Picture Placeholder 360">
            <a:extLst>
              <a:ext uri="{FF2B5EF4-FFF2-40B4-BE49-F238E27FC236}">
                <a16:creationId xmlns:a16="http://schemas.microsoft.com/office/drawing/2014/main" id="{7EDA5855-F73F-935A-1566-720D38EC07D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696325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A7A6897-50BB-69EA-CE0D-8428224909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95959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29" name="Picture Placeholder 360">
            <a:extLst>
              <a:ext uri="{FF2B5EF4-FFF2-40B4-BE49-F238E27FC236}">
                <a16:creationId xmlns:a16="http://schemas.microsoft.com/office/drawing/2014/main" id="{D09EF4CE-B526-1CEA-9EDD-34A61A70EE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71993" y="1676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93FC27B-1624-B783-DF96-5521C31FB6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71627" y="3101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1" name="Picture Placeholder 360">
            <a:extLst>
              <a:ext uri="{FF2B5EF4-FFF2-40B4-BE49-F238E27FC236}">
                <a16:creationId xmlns:a16="http://schemas.microsoft.com/office/drawing/2014/main" id="{5A8BA158-C0D0-7A81-D0D2-8428A63A3D7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71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39D4BA50-34B9-66B8-EAF5-82AF534969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67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3" name="Picture Placeholder 360">
            <a:extLst>
              <a:ext uri="{FF2B5EF4-FFF2-40B4-BE49-F238E27FC236}">
                <a16:creationId xmlns:a16="http://schemas.microsoft.com/office/drawing/2014/main" id="{9764F327-567A-B4BD-324B-5E6E4A38AE8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9935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81407771-83D8-01C3-0563-CE45ADD67E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931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5" name="Picture Placeholder 360">
            <a:extLst>
              <a:ext uri="{FF2B5EF4-FFF2-40B4-BE49-F238E27FC236}">
                <a16:creationId xmlns:a16="http://schemas.microsoft.com/office/drawing/2014/main" id="{053F6908-A1A4-51D5-C068-74AE8BBE857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6699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59B219-D993-9F5C-A25E-27170413130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695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7" name="Picture Placeholder 360">
            <a:extLst>
              <a:ext uri="{FF2B5EF4-FFF2-40B4-BE49-F238E27FC236}">
                <a16:creationId xmlns:a16="http://schemas.microsoft.com/office/drawing/2014/main" id="{3B1CFCF1-1BBA-A77B-07C5-CE89C6D37D8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463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24D5DB3-FDA3-34E1-683B-AF880C6B564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459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39" name="Picture Placeholder 360">
            <a:extLst>
              <a:ext uri="{FF2B5EF4-FFF2-40B4-BE49-F238E27FC236}">
                <a16:creationId xmlns:a16="http://schemas.microsoft.com/office/drawing/2014/main" id="{CD18FDA3-0BAD-70CF-4A1C-E0AC365F43E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022751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C7D472D-B446-D4C9-7FEA-8337576DA4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22385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41" name="Picture Placeholder 360">
            <a:extLst>
              <a:ext uri="{FF2B5EF4-FFF2-40B4-BE49-F238E27FC236}">
                <a16:creationId xmlns:a16="http://schemas.microsoft.com/office/drawing/2014/main" id="{00CD14FC-B345-724A-1702-9ECB7309E7B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698785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A39A6918-941C-CFDA-46B7-7B3F5821B26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98419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43" name="Picture Placeholder 360">
            <a:extLst>
              <a:ext uri="{FF2B5EF4-FFF2-40B4-BE49-F238E27FC236}">
                <a16:creationId xmlns:a16="http://schemas.microsoft.com/office/drawing/2014/main" id="{13F06704-FC82-77D6-CD12-259FDE55A8D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374453" y="3962401"/>
            <a:ext cx="1411061" cy="1408177"/>
          </a:xfr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DAE33098-4EF0-1E1A-7F23-76F0D50AAC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74087" y="5387730"/>
            <a:ext cx="1412144" cy="321408"/>
          </a:xfrm>
        </p:spPr>
        <p:txBody>
          <a:bodyPr tIns="91440"/>
          <a:lstStyle>
            <a:lvl1pPr marL="0" indent="0">
              <a:buNone/>
              <a:defRPr sz="1600" b="0" u="none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US" dirty="0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386488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2023-P05692: Jaimee edited &#10;&#10;Drone Mission - Aerial of ORNL East Campus facing west. May 9, 2023.&#10;">
            <a:extLst>
              <a:ext uri="{FF2B5EF4-FFF2-40B4-BE49-F238E27FC236}">
                <a16:creationId xmlns:a16="http://schemas.microsoft.com/office/drawing/2014/main" id="{29026065-7CE6-26BF-5E11-E2573F33E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089" b="20607"/>
          <a:stretch>
            <a:fillRect/>
          </a:stretch>
        </p:blipFill>
        <p:spPr>
          <a:xfrm>
            <a:off x="0" y="414"/>
            <a:ext cx="12192000" cy="6857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88" y="2258209"/>
            <a:ext cx="12081224" cy="664797"/>
          </a:xfrm>
        </p:spPr>
        <p:txBody>
          <a:bodyPr anchor="t" anchorCtr="0">
            <a:noAutofit/>
          </a:bodyPr>
          <a:lstStyle>
            <a:lvl1pPr algn="ctr">
              <a:spcBef>
                <a:spcPts val="1200"/>
              </a:spcBef>
              <a:spcAft>
                <a:spcPts val="60"/>
              </a:spcAft>
              <a:defRPr sz="4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One-sentence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437" y="2922742"/>
            <a:ext cx="12063127" cy="397032"/>
          </a:xfrm>
        </p:spPr>
        <p:txBody>
          <a:bodyPr tIns="91440"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2200" b="1" spc="3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PLACE CONTENT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5668818" y="3468601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787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Hexa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4013C738-DD97-6098-5C6E-69C6DA874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71230B-9536-B5A5-160D-DBECD2D26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157" y="2624569"/>
            <a:ext cx="11045686" cy="498598"/>
          </a:xfrm>
        </p:spPr>
        <p:txBody>
          <a:bodyPr anchor="t" anchorCtr="0">
            <a:no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One-sentence headline stating the main takeaway</a:t>
            </a:r>
          </a:p>
        </p:txBody>
      </p:sp>
      <p:sp>
        <p:nvSpPr>
          <p:cNvPr id="320" name="Text Placeholder 368">
            <a:extLst>
              <a:ext uri="{FF2B5EF4-FFF2-40B4-BE49-F238E27FC236}">
                <a16:creationId xmlns:a16="http://schemas.microsoft.com/office/drawing/2014/main" id="{EE706859-C661-2A5C-56D3-6BE7DBBC71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069" y="3774422"/>
            <a:ext cx="11062774" cy="249299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+mn-lt"/>
                <a:ea typeface="Aptos Light" panose="02000000000000000000" pitchFamily="2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Place content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D526D-05AB-C716-46F5-6CDC1D14E2ED}"/>
              </a:ext>
            </a:extLst>
          </p:cNvPr>
          <p:cNvSpPr/>
          <p:nvPr userDrawn="1"/>
        </p:nvSpPr>
        <p:spPr>
          <a:xfrm>
            <a:off x="5668818" y="3393042"/>
            <a:ext cx="854364" cy="71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Aptos Light" panose="020B0004020202020204" pitchFamily="34" charset="0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Aptos Light" panose="020B0004020202020204" pitchFamily="34" charset="0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90CAB2-9585-BA89-5C2E-B28EE49E99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40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Aerial + 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2025-P08154: Drone Mission - Aerial of sunrise over ORNL east campus, April 3, 2023.  &#10;&#10;Electronic Reference Image – For more images in this series, please contact, creativeservices@ornl.gov&#10;This image has been reviewed by an ORNL Releasing Official and is approved for public release, January 4, 2023.">
            <a:extLst>
              <a:ext uri="{FF2B5EF4-FFF2-40B4-BE49-F238E27FC236}">
                <a16:creationId xmlns:a16="http://schemas.microsoft.com/office/drawing/2014/main" id="{23DA0192-253A-9416-8E30-B9B66EE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94" t="5003" r="5511" b="5003"/>
          <a:stretch>
            <a:fillRect/>
          </a:stretch>
        </p:blipFill>
        <p:spPr>
          <a:xfrm>
            <a:off x="0" y="414"/>
            <a:ext cx="12192000" cy="6857172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E904804-90C2-92CD-EBBE-DEE84A1EF57E}"/>
              </a:ext>
            </a:extLst>
          </p:cNvPr>
          <p:cNvGrpSpPr/>
          <p:nvPr userDrawn="1"/>
        </p:nvGrpSpPr>
        <p:grpSpPr>
          <a:xfrm>
            <a:off x="2230425" y="2155963"/>
            <a:ext cx="7731150" cy="1180116"/>
            <a:chOff x="2419238" y="1689595"/>
            <a:chExt cx="7333183" cy="1119369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B35B19EB-28CC-5046-67D8-0AC0F092D8F9}"/>
                </a:ext>
              </a:extLst>
            </p:cNvPr>
            <p:cNvSpPr/>
            <p:nvPr userDrawn="1"/>
          </p:nvSpPr>
          <p:spPr>
            <a:xfrm>
              <a:off x="6151118" y="1690962"/>
              <a:ext cx="1113318" cy="1113317"/>
            </a:xfrm>
            <a:custGeom>
              <a:avLst/>
              <a:gdLst>
                <a:gd name="connsiteX0" fmla="*/ 0 w 543306"/>
                <a:gd name="connsiteY0" fmla="*/ 0 h 543305"/>
                <a:gd name="connsiteX1" fmla="*/ 543306 w 543306"/>
                <a:gd name="connsiteY1" fmla="*/ 0 h 543305"/>
                <a:gd name="connsiteX2" fmla="*/ 543306 w 543306"/>
                <a:gd name="connsiteY2" fmla="*/ 543306 h 543305"/>
                <a:gd name="connsiteX3" fmla="*/ 0 w 543306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9F8B7F74-14E3-0359-48F7-8887F481B3F3}"/>
                </a:ext>
              </a:extLst>
            </p:cNvPr>
            <p:cNvSpPr/>
            <p:nvPr userDrawn="1"/>
          </p:nvSpPr>
          <p:spPr>
            <a:xfrm>
              <a:off x="6531907" y="1870334"/>
              <a:ext cx="352119" cy="754014"/>
            </a:xfrm>
            <a:custGeom>
              <a:avLst/>
              <a:gdLst>
                <a:gd name="connsiteX0" fmla="*/ 136975 w 171836"/>
                <a:gd name="connsiteY0" fmla="*/ 62674 h 367963"/>
                <a:gd name="connsiteX1" fmla="*/ 167646 w 171836"/>
                <a:gd name="connsiteY1" fmla="*/ 62674 h 367963"/>
                <a:gd name="connsiteX2" fmla="*/ 171837 w 171836"/>
                <a:gd name="connsiteY2" fmla="*/ 58483 h 367963"/>
                <a:gd name="connsiteX3" fmla="*/ 171837 w 171836"/>
                <a:gd name="connsiteY3" fmla="*/ 3905 h 367963"/>
                <a:gd name="connsiteX4" fmla="*/ 168027 w 171836"/>
                <a:gd name="connsiteY4" fmla="*/ 0 h 367963"/>
                <a:gd name="connsiteX5" fmla="*/ 104305 w 171836"/>
                <a:gd name="connsiteY5" fmla="*/ 667 h 367963"/>
                <a:gd name="connsiteX6" fmla="*/ 53156 w 171836"/>
                <a:gd name="connsiteY6" fmla="*/ 26670 h 367963"/>
                <a:gd name="connsiteX7" fmla="*/ 38392 w 171836"/>
                <a:gd name="connsiteY7" fmla="*/ 72580 h 367963"/>
                <a:gd name="connsiteX8" fmla="*/ 38392 w 171836"/>
                <a:gd name="connsiteY8" fmla="*/ 113633 h 367963"/>
                <a:gd name="connsiteX9" fmla="*/ 32105 w 171836"/>
                <a:gd name="connsiteY9" fmla="*/ 120205 h 367963"/>
                <a:gd name="connsiteX10" fmla="*/ 4483 w 171836"/>
                <a:gd name="connsiteY10" fmla="*/ 120015 h 367963"/>
                <a:gd name="connsiteX11" fmla="*/ 6 w 171836"/>
                <a:gd name="connsiteY11" fmla="*/ 124492 h 367963"/>
                <a:gd name="connsiteX12" fmla="*/ 6 w 171836"/>
                <a:gd name="connsiteY12" fmla="*/ 178403 h 367963"/>
                <a:gd name="connsiteX13" fmla="*/ 4959 w 171836"/>
                <a:gd name="connsiteY13" fmla="*/ 183166 h 367963"/>
                <a:gd name="connsiteX14" fmla="*/ 31915 w 171836"/>
                <a:gd name="connsiteY14" fmla="*/ 182975 h 367963"/>
                <a:gd name="connsiteX15" fmla="*/ 38106 w 171836"/>
                <a:gd name="connsiteY15" fmla="*/ 189167 h 367963"/>
                <a:gd name="connsiteX16" fmla="*/ 38011 w 171836"/>
                <a:gd name="connsiteY16" fmla="*/ 275558 h 367963"/>
                <a:gd name="connsiteX17" fmla="*/ 37915 w 171836"/>
                <a:gd name="connsiteY17" fmla="*/ 360807 h 367963"/>
                <a:gd name="connsiteX18" fmla="*/ 44773 w 171836"/>
                <a:gd name="connsiteY18" fmla="*/ 367951 h 367963"/>
                <a:gd name="connsiteX19" fmla="*/ 107924 w 171836"/>
                <a:gd name="connsiteY19" fmla="*/ 367951 h 367963"/>
                <a:gd name="connsiteX20" fmla="*/ 115354 w 171836"/>
                <a:gd name="connsiteY20" fmla="*/ 360617 h 367963"/>
                <a:gd name="connsiteX21" fmla="*/ 115258 w 171836"/>
                <a:gd name="connsiteY21" fmla="*/ 191452 h 367963"/>
                <a:gd name="connsiteX22" fmla="*/ 123164 w 171836"/>
                <a:gd name="connsiteY22" fmla="*/ 183737 h 367963"/>
                <a:gd name="connsiteX23" fmla="*/ 159931 w 171836"/>
                <a:gd name="connsiteY23" fmla="*/ 183737 h 367963"/>
                <a:gd name="connsiteX24" fmla="*/ 165836 w 171836"/>
                <a:gd name="connsiteY24" fmla="*/ 178975 h 367963"/>
                <a:gd name="connsiteX25" fmla="*/ 170980 w 171836"/>
                <a:gd name="connsiteY25" fmla="*/ 124682 h 367963"/>
                <a:gd name="connsiteX26" fmla="*/ 165455 w 171836"/>
                <a:gd name="connsiteY26" fmla="*/ 118872 h 367963"/>
                <a:gd name="connsiteX27" fmla="*/ 118878 w 171836"/>
                <a:gd name="connsiteY27" fmla="*/ 118967 h 367963"/>
                <a:gd name="connsiteX28" fmla="*/ 114115 w 171836"/>
                <a:gd name="connsiteY28" fmla="*/ 115348 h 367963"/>
                <a:gd name="connsiteX29" fmla="*/ 114592 w 171836"/>
                <a:gd name="connsiteY29" fmla="*/ 82867 h 367963"/>
                <a:gd name="connsiteX30" fmla="*/ 137166 w 171836"/>
                <a:gd name="connsiteY30" fmla="*/ 62389 h 367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836" h="367963">
                  <a:moveTo>
                    <a:pt x="136975" y="62674"/>
                  </a:moveTo>
                  <a:cubicBezTo>
                    <a:pt x="147167" y="62674"/>
                    <a:pt x="157454" y="62579"/>
                    <a:pt x="167646" y="62674"/>
                  </a:cubicBezTo>
                  <a:cubicBezTo>
                    <a:pt x="170789" y="62674"/>
                    <a:pt x="171837" y="61722"/>
                    <a:pt x="171837" y="58483"/>
                  </a:cubicBezTo>
                  <a:cubicBezTo>
                    <a:pt x="171742" y="40291"/>
                    <a:pt x="171742" y="22098"/>
                    <a:pt x="171837" y="3905"/>
                  </a:cubicBezTo>
                  <a:cubicBezTo>
                    <a:pt x="171837" y="1048"/>
                    <a:pt x="170980" y="0"/>
                    <a:pt x="168027" y="0"/>
                  </a:cubicBezTo>
                  <a:cubicBezTo>
                    <a:pt x="146786" y="190"/>
                    <a:pt x="125546" y="-286"/>
                    <a:pt x="104305" y="667"/>
                  </a:cubicBezTo>
                  <a:cubicBezTo>
                    <a:pt x="83635" y="1619"/>
                    <a:pt x="65729" y="9430"/>
                    <a:pt x="53156" y="26670"/>
                  </a:cubicBezTo>
                  <a:cubicBezTo>
                    <a:pt x="43154" y="40291"/>
                    <a:pt x="38677" y="55817"/>
                    <a:pt x="38392" y="72580"/>
                  </a:cubicBezTo>
                  <a:cubicBezTo>
                    <a:pt x="38106" y="86296"/>
                    <a:pt x="38106" y="100013"/>
                    <a:pt x="38392" y="113633"/>
                  </a:cubicBezTo>
                  <a:cubicBezTo>
                    <a:pt x="38487" y="118586"/>
                    <a:pt x="37439" y="120491"/>
                    <a:pt x="32105" y="120205"/>
                  </a:cubicBezTo>
                  <a:cubicBezTo>
                    <a:pt x="22961" y="119729"/>
                    <a:pt x="13722" y="120205"/>
                    <a:pt x="4483" y="120015"/>
                  </a:cubicBezTo>
                  <a:cubicBezTo>
                    <a:pt x="958" y="120015"/>
                    <a:pt x="-89" y="121063"/>
                    <a:pt x="6" y="124492"/>
                  </a:cubicBezTo>
                  <a:cubicBezTo>
                    <a:pt x="197" y="142494"/>
                    <a:pt x="197" y="160496"/>
                    <a:pt x="6" y="178403"/>
                  </a:cubicBezTo>
                  <a:cubicBezTo>
                    <a:pt x="6" y="182213"/>
                    <a:pt x="1339" y="183261"/>
                    <a:pt x="4959" y="183166"/>
                  </a:cubicBezTo>
                  <a:cubicBezTo>
                    <a:pt x="13913" y="182975"/>
                    <a:pt x="22961" y="183356"/>
                    <a:pt x="31915" y="182975"/>
                  </a:cubicBezTo>
                  <a:cubicBezTo>
                    <a:pt x="36772" y="182785"/>
                    <a:pt x="38106" y="184309"/>
                    <a:pt x="38106" y="189167"/>
                  </a:cubicBezTo>
                  <a:cubicBezTo>
                    <a:pt x="37915" y="217932"/>
                    <a:pt x="38011" y="246793"/>
                    <a:pt x="38011" y="275558"/>
                  </a:cubicBezTo>
                  <a:cubicBezTo>
                    <a:pt x="38011" y="304324"/>
                    <a:pt x="38106" y="332327"/>
                    <a:pt x="37915" y="360807"/>
                  </a:cubicBezTo>
                  <a:cubicBezTo>
                    <a:pt x="37915" y="366141"/>
                    <a:pt x="38868" y="368141"/>
                    <a:pt x="44773" y="367951"/>
                  </a:cubicBezTo>
                  <a:cubicBezTo>
                    <a:pt x="65824" y="367570"/>
                    <a:pt x="86874" y="367570"/>
                    <a:pt x="107924" y="367951"/>
                  </a:cubicBezTo>
                  <a:cubicBezTo>
                    <a:pt x="113830" y="368046"/>
                    <a:pt x="115354" y="366617"/>
                    <a:pt x="115354" y="360617"/>
                  </a:cubicBezTo>
                  <a:cubicBezTo>
                    <a:pt x="115068" y="304229"/>
                    <a:pt x="115163" y="247841"/>
                    <a:pt x="115258" y="191452"/>
                  </a:cubicBezTo>
                  <a:cubicBezTo>
                    <a:pt x="115258" y="182499"/>
                    <a:pt x="114401" y="183833"/>
                    <a:pt x="123164" y="183737"/>
                  </a:cubicBezTo>
                  <a:cubicBezTo>
                    <a:pt x="135451" y="183737"/>
                    <a:pt x="147643" y="183642"/>
                    <a:pt x="159931" y="183737"/>
                  </a:cubicBezTo>
                  <a:cubicBezTo>
                    <a:pt x="163646" y="183737"/>
                    <a:pt x="165455" y="182975"/>
                    <a:pt x="165836" y="178975"/>
                  </a:cubicBezTo>
                  <a:cubicBezTo>
                    <a:pt x="167360" y="160877"/>
                    <a:pt x="169075" y="142780"/>
                    <a:pt x="170980" y="124682"/>
                  </a:cubicBezTo>
                  <a:cubicBezTo>
                    <a:pt x="171456" y="119920"/>
                    <a:pt x="170027" y="118872"/>
                    <a:pt x="165455" y="118872"/>
                  </a:cubicBezTo>
                  <a:cubicBezTo>
                    <a:pt x="149930" y="119158"/>
                    <a:pt x="134404" y="118872"/>
                    <a:pt x="118878" y="118967"/>
                  </a:cubicBezTo>
                  <a:cubicBezTo>
                    <a:pt x="116306" y="118967"/>
                    <a:pt x="114020" y="119253"/>
                    <a:pt x="114115" y="115348"/>
                  </a:cubicBezTo>
                  <a:cubicBezTo>
                    <a:pt x="114401" y="104489"/>
                    <a:pt x="113830" y="93631"/>
                    <a:pt x="114592" y="82867"/>
                  </a:cubicBezTo>
                  <a:cubicBezTo>
                    <a:pt x="115449" y="69437"/>
                    <a:pt x="123545" y="62389"/>
                    <a:pt x="137166" y="623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1A6707B-2CA3-3F65-45C2-727FD45B5C49}"/>
                </a:ext>
              </a:extLst>
            </p:cNvPr>
            <p:cNvSpPr/>
            <p:nvPr userDrawn="1"/>
          </p:nvSpPr>
          <p:spPr>
            <a:xfrm>
              <a:off x="4907224" y="1690572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4C61578-C993-8405-291A-DEF5EE57846B}"/>
                </a:ext>
              </a:extLst>
            </p:cNvPr>
            <p:cNvSpPr/>
            <p:nvPr userDrawn="1"/>
          </p:nvSpPr>
          <p:spPr>
            <a:xfrm>
              <a:off x="5613002" y="2009890"/>
              <a:ext cx="88611" cy="88611"/>
            </a:xfrm>
            <a:custGeom>
              <a:avLst/>
              <a:gdLst>
                <a:gd name="connsiteX0" fmla="*/ 21622 w 43243"/>
                <a:gd name="connsiteY0" fmla="*/ 0 h 43243"/>
                <a:gd name="connsiteX1" fmla="*/ 0 w 43243"/>
                <a:gd name="connsiteY1" fmla="*/ 21622 h 43243"/>
                <a:gd name="connsiteX2" fmla="*/ 21622 w 43243"/>
                <a:gd name="connsiteY2" fmla="*/ 43244 h 43243"/>
                <a:gd name="connsiteX3" fmla="*/ 43244 w 43243"/>
                <a:gd name="connsiteY3" fmla="*/ 21622 h 43243"/>
                <a:gd name="connsiteX4" fmla="*/ 21622 w 43243"/>
                <a:gd name="connsiteY4" fmla="*/ 0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3" h="43243">
                  <a:moveTo>
                    <a:pt x="21622" y="0"/>
                  </a:moveTo>
                  <a:cubicBezTo>
                    <a:pt x="9715" y="0"/>
                    <a:pt x="0" y="9716"/>
                    <a:pt x="0" y="21622"/>
                  </a:cubicBezTo>
                  <a:cubicBezTo>
                    <a:pt x="0" y="33528"/>
                    <a:pt x="9715" y="43244"/>
                    <a:pt x="21622" y="43244"/>
                  </a:cubicBezTo>
                  <a:cubicBezTo>
                    <a:pt x="33528" y="43244"/>
                    <a:pt x="43244" y="33528"/>
                    <a:pt x="43244" y="21622"/>
                  </a:cubicBezTo>
                  <a:cubicBezTo>
                    <a:pt x="43244" y="9716"/>
                    <a:pt x="33528" y="0"/>
                    <a:pt x="2162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74412687-F6B8-FF14-A681-2E7D9389F291}"/>
                </a:ext>
              </a:extLst>
            </p:cNvPr>
            <p:cNvSpPr/>
            <p:nvPr userDrawn="1"/>
          </p:nvSpPr>
          <p:spPr>
            <a:xfrm>
              <a:off x="5100064" y="1883412"/>
              <a:ext cx="727442" cy="727442"/>
            </a:xfrm>
            <a:custGeom>
              <a:avLst/>
              <a:gdLst>
                <a:gd name="connsiteX0" fmla="*/ 265462 w 354996"/>
                <a:gd name="connsiteY0" fmla="*/ 0 h 354996"/>
                <a:gd name="connsiteX1" fmla="*/ 89535 w 354996"/>
                <a:gd name="connsiteY1" fmla="*/ 0 h 354996"/>
                <a:gd name="connsiteX2" fmla="*/ 0 w 354996"/>
                <a:gd name="connsiteY2" fmla="*/ 89535 h 354996"/>
                <a:gd name="connsiteX3" fmla="*/ 0 w 354996"/>
                <a:gd name="connsiteY3" fmla="*/ 265462 h 354996"/>
                <a:gd name="connsiteX4" fmla="*/ 89535 w 354996"/>
                <a:gd name="connsiteY4" fmla="*/ 354997 h 354996"/>
                <a:gd name="connsiteX5" fmla="*/ 265462 w 354996"/>
                <a:gd name="connsiteY5" fmla="*/ 354997 h 354996"/>
                <a:gd name="connsiteX6" fmla="*/ 354997 w 354996"/>
                <a:gd name="connsiteY6" fmla="*/ 265462 h 354996"/>
                <a:gd name="connsiteX7" fmla="*/ 354997 w 354996"/>
                <a:gd name="connsiteY7" fmla="*/ 89535 h 354996"/>
                <a:gd name="connsiteX8" fmla="*/ 265462 w 354996"/>
                <a:gd name="connsiteY8" fmla="*/ 0 h 354996"/>
                <a:gd name="connsiteX9" fmla="*/ 316421 w 354996"/>
                <a:gd name="connsiteY9" fmla="*/ 265462 h 354996"/>
                <a:gd name="connsiteX10" fmla="*/ 265462 w 354996"/>
                <a:gd name="connsiteY10" fmla="*/ 316421 h 354996"/>
                <a:gd name="connsiteX11" fmla="*/ 89535 w 354996"/>
                <a:gd name="connsiteY11" fmla="*/ 316421 h 354996"/>
                <a:gd name="connsiteX12" fmla="*/ 38576 w 354996"/>
                <a:gd name="connsiteY12" fmla="*/ 265462 h 354996"/>
                <a:gd name="connsiteX13" fmla="*/ 38576 w 354996"/>
                <a:gd name="connsiteY13" fmla="*/ 89535 h 354996"/>
                <a:gd name="connsiteX14" fmla="*/ 89535 w 354996"/>
                <a:gd name="connsiteY14" fmla="*/ 38576 h 354996"/>
                <a:gd name="connsiteX15" fmla="*/ 265462 w 354996"/>
                <a:gd name="connsiteY15" fmla="*/ 38576 h 354996"/>
                <a:gd name="connsiteX16" fmla="*/ 316421 w 354996"/>
                <a:gd name="connsiteY16" fmla="*/ 89535 h 354996"/>
                <a:gd name="connsiteX17" fmla="*/ 316421 w 354996"/>
                <a:gd name="connsiteY17" fmla="*/ 265462 h 35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4996" h="354996">
                  <a:moveTo>
                    <a:pt x="265462" y="0"/>
                  </a:moveTo>
                  <a:lnTo>
                    <a:pt x="89535" y="0"/>
                  </a:lnTo>
                  <a:cubicBezTo>
                    <a:pt x="40196" y="0"/>
                    <a:pt x="0" y="40196"/>
                    <a:pt x="0" y="89535"/>
                  </a:cubicBezTo>
                  <a:lnTo>
                    <a:pt x="0" y="265462"/>
                  </a:lnTo>
                  <a:cubicBezTo>
                    <a:pt x="0" y="314896"/>
                    <a:pt x="40196" y="354997"/>
                    <a:pt x="89535" y="354997"/>
                  </a:cubicBezTo>
                  <a:lnTo>
                    <a:pt x="265462" y="354997"/>
                  </a:lnTo>
                  <a:cubicBezTo>
                    <a:pt x="314801" y="354997"/>
                    <a:pt x="354997" y="314801"/>
                    <a:pt x="354997" y="265462"/>
                  </a:cubicBezTo>
                  <a:lnTo>
                    <a:pt x="354997" y="89535"/>
                  </a:lnTo>
                  <a:cubicBezTo>
                    <a:pt x="354997" y="40196"/>
                    <a:pt x="314801" y="0"/>
                    <a:pt x="265462" y="0"/>
                  </a:cubicBezTo>
                  <a:close/>
                  <a:moveTo>
                    <a:pt x="316421" y="265462"/>
                  </a:moveTo>
                  <a:cubicBezTo>
                    <a:pt x="316421" y="293560"/>
                    <a:pt x="293561" y="316421"/>
                    <a:pt x="265462" y="316421"/>
                  </a:cubicBezTo>
                  <a:lnTo>
                    <a:pt x="89535" y="316421"/>
                  </a:lnTo>
                  <a:cubicBezTo>
                    <a:pt x="61436" y="316421"/>
                    <a:pt x="38576" y="293560"/>
                    <a:pt x="38576" y="265462"/>
                  </a:cubicBezTo>
                  <a:lnTo>
                    <a:pt x="38576" y="89535"/>
                  </a:lnTo>
                  <a:cubicBezTo>
                    <a:pt x="38576" y="61436"/>
                    <a:pt x="61436" y="38576"/>
                    <a:pt x="89535" y="38576"/>
                  </a:cubicBezTo>
                  <a:lnTo>
                    <a:pt x="265462" y="38576"/>
                  </a:lnTo>
                  <a:cubicBezTo>
                    <a:pt x="293561" y="38576"/>
                    <a:pt x="316421" y="61436"/>
                    <a:pt x="316421" y="89535"/>
                  </a:cubicBezTo>
                  <a:lnTo>
                    <a:pt x="316421" y="26546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11DCFC7-265A-A74C-9128-D2C19FEB1FE1}"/>
                </a:ext>
              </a:extLst>
            </p:cNvPr>
            <p:cNvSpPr/>
            <p:nvPr userDrawn="1"/>
          </p:nvSpPr>
          <p:spPr>
            <a:xfrm>
              <a:off x="5276508" y="2059857"/>
              <a:ext cx="374747" cy="374750"/>
            </a:xfrm>
            <a:custGeom>
              <a:avLst/>
              <a:gdLst>
                <a:gd name="connsiteX0" fmla="*/ 91440 w 182879"/>
                <a:gd name="connsiteY0" fmla="*/ 0 h 182880"/>
                <a:gd name="connsiteX1" fmla="*/ 0 w 182879"/>
                <a:gd name="connsiteY1" fmla="*/ 91440 h 182880"/>
                <a:gd name="connsiteX2" fmla="*/ 91440 w 182879"/>
                <a:gd name="connsiteY2" fmla="*/ 182880 h 182880"/>
                <a:gd name="connsiteX3" fmla="*/ 182880 w 182879"/>
                <a:gd name="connsiteY3" fmla="*/ 91440 h 182880"/>
                <a:gd name="connsiteX4" fmla="*/ 91440 w 182879"/>
                <a:gd name="connsiteY4" fmla="*/ 0 h 182880"/>
                <a:gd name="connsiteX5" fmla="*/ 91440 w 182879"/>
                <a:gd name="connsiteY5" fmla="*/ 144209 h 182880"/>
                <a:gd name="connsiteX6" fmla="*/ 38671 w 182879"/>
                <a:gd name="connsiteY6" fmla="*/ 91440 h 182880"/>
                <a:gd name="connsiteX7" fmla="*/ 91440 w 182879"/>
                <a:gd name="connsiteY7" fmla="*/ 38672 h 182880"/>
                <a:gd name="connsiteX8" fmla="*/ 144304 w 182879"/>
                <a:gd name="connsiteY8" fmla="*/ 91440 h 182880"/>
                <a:gd name="connsiteX9" fmla="*/ 91440 w 182879"/>
                <a:gd name="connsiteY9" fmla="*/ 144209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879" h="182880">
                  <a:moveTo>
                    <a:pt x="91440" y="0"/>
                  </a:moveTo>
                  <a:cubicBezTo>
                    <a:pt x="41053" y="0"/>
                    <a:pt x="0" y="41053"/>
                    <a:pt x="0" y="91440"/>
                  </a:cubicBezTo>
                  <a:cubicBezTo>
                    <a:pt x="0" y="141827"/>
                    <a:pt x="41053" y="182880"/>
                    <a:pt x="91440" y="182880"/>
                  </a:cubicBezTo>
                  <a:cubicBezTo>
                    <a:pt x="141827" y="182880"/>
                    <a:pt x="182880" y="141827"/>
                    <a:pt x="182880" y="91440"/>
                  </a:cubicBezTo>
                  <a:cubicBezTo>
                    <a:pt x="182880" y="41053"/>
                    <a:pt x="141922" y="0"/>
                    <a:pt x="91440" y="0"/>
                  </a:cubicBezTo>
                  <a:close/>
                  <a:moveTo>
                    <a:pt x="91440" y="144209"/>
                  </a:moveTo>
                  <a:cubicBezTo>
                    <a:pt x="62389" y="144209"/>
                    <a:pt x="38671" y="120491"/>
                    <a:pt x="38671" y="91440"/>
                  </a:cubicBezTo>
                  <a:cubicBezTo>
                    <a:pt x="38671" y="62389"/>
                    <a:pt x="62389" y="38672"/>
                    <a:pt x="91440" y="38672"/>
                  </a:cubicBezTo>
                  <a:cubicBezTo>
                    <a:pt x="120491" y="38672"/>
                    <a:pt x="144304" y="62389"/>
                    <a:pt x="144304" y="91440"/>
                  </a:cubicBezTo>
                  <a:cubicBezTo>
                    <a:pt x="144304" y="120491"/>
                    <a:pt x="120586" y="144209"/>
                    <a:pt x="91440" y="1442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F71412B-57D0-8C3F-863B-747D72482FB6}"/>
                </a:ext>
              </a:extLst>
            </p:cNvPr>
            <p:cNvSpPr/>
            <p:nvPr userDrawn="1"/>
          </p:nvSpPr>
          <p:spPr>
            <a:xfrm>
              <a:off x="7395013" y="1695646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32E9776-B6B4-0737-83B3-225F4D4AE1BF}"/>
                </a:ext>
              </a:extLst>
            </p:cNvPr>
            <p:cNvSpPr/>
            <p:nvPr userDrawn="1"/>
          </p:nvSpPr>
          <p:spPr>
            <a:xfrm>
              <a:off x="7581999" y="1991739"/>
              <a:ext cx="739350" cy="521135"/>
            </a:xfrm>
            <a:custGeom>
              <a:avLst/>
              <a:gdLst>
                <a:gd name="connsiteX0" fmla="*/ 353282 w 360807"/>
                <a:gd name="connsiteY0" fmla="*/ 39719 h 254317"/>
                <a:gd name="connsiteX1" fmla="*/ 321373 w 360807"/>
                <a:gd name="connsiteY1" fmla="*/ 7620 h 254317"/>
                <a:gd name="connsiteX2" fmla="*/ 180404 w 360807"/>
                <a:gd name="connsiteY2" fmla="*/ 0 h 254317"/>
                <a:gd name="connsiteX3" fmla="*/ 39433 w 360807"/>
                <a:gd name="connsiteY3" fmla="*/ 7620 h 254317"/>
                <a:gd name="connsiteX4" fmla="*/ 7525 w 360807"/>
                <a:gd name="connsiteY4" fmla="*/ 39719 h 254317"/>
                <a:gd name="connsiteX5" fmla="*/ 0 w 360807"/>
                <a:gd name="connsiteY5" fmla="*/ 127159 h 254317"/>
                <a:gd name="connsiteX6" fmla="*/ 7525 w 360807"/>
                <a:gd name="connsiteY6" fmla="*/ 214598 h 254317"/>
                <a:gd name="connsiteX7" fmla="*/ 39433 w 360807"/>
                <a:gd name="connsiteY7" fmla="*/ 246697 h 254317"/>
                <a:gd name="connsiteX8" fmla="*/ 180404 w 360807"/>
                <a:gd name="connsiteY8" fmla="*/ 254317 h 254317"/>
                <a:gd name="connsiteX9" fmla="*/ 321373 w 360807"/>
                <a:gd name="connsiteY9" fmla="*/ 246697 h 254317"/>
                <a:gd name="connsiteX10" fmla="*/ 353282 w 360807"/>
                <a:gd name="connsiteY10" fmla="*/ 214598 h 254317"/>
                <a:gd name="connsiteX11" fmla="*/ 360807 w 360807"/>
                <a:gd name="connsiteY11" fmla="*/ 127159 h 254317"/>
                <a:gd name="connsiteX12" fmla="*/ 353282 w 360807"/>
                <a:gd name="connsiteY12" fmla="*/ 39719 h 254317"/>
                <a:gd name="connsiteX13" fmla="*/ 143542 w 360807"/>
                <a:gd name="connsiteY13" fmla="*/ 180784 h 254317"/>
                <a:gd name="connsiteX14" fmla="*/ 143542 w 360807"/>
                <a:gd name="connsiteY14" fmla="*/ 73533 h 254317"/>
                <a:gd name="connsiteX15" fmla="*/ 237839 w 360807"/>
                <a:gd name="connsiteY15" fmla="*/ 127159 h 254317"/>
                <a:gd name="connsiteX16" fmla="*/ 143542 w 360807"/>
                <a:gd name="connsiteY16" fmla="*/ 180784 h 25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0807" h="254317">
                  <a:moveTo>
                    <a:pt x="353282" y="39719"/>
                  </a:moveTo>
                  <a:cubicBezTo>
                    <a:pt x="349091" y="24098"/>
                    <a:pt x="336899" y="11811"/>
                    <a:pt x="321373" y="7620"/>
                  </a:cubicBezTo>
                  <a:cubicBezTo>
                    <a:pt x="293275" y="0"/>
                    <a:pt x="180404" y="0"/>
                    <a:pt x="180404" y="0"/>
                  </a:cubicBezTo>
                  <a:cubicBezTo>
                    <a:pt x="180404" y="0"/>
                    <a:pt x="67532" y="0"/>
                    <a:pt x="39433" y="7620"/>
                  </a:cubicBezTo>
                  <a:cubicBezTo>
                    <a:pt x="23908" y="11811"/>
                    <a:pt x="11716" y="24098"/>
                    <a:pt x="7525" y="39719"/>
                  </a:cubicBezTo>
                  <a:cubicBezTo>
                    <a:pt x="0" y="68008"/>
                    <a:pt x="0" y="127159"/>
                    <a:pt x="0" y="127159"/>
                  </a:cubicBezTo>
                  <a:cubicBezTo>
                    <a:pt x="0" y="127159"/>
                    <a:pt x="0" y="186214"/>
                    <a:pt x="7525" y="214598"/>
                  </a:cubicBezTo>
                  <a:cubicBezTo>
                    <a:pt x="11716" y="230219"/>
                    <a:pt x="23908" y="242506"/>
                    <a:pt x="39433" y="246697"/>
                  </a:cubicBezTo>
                  <a:cubicBezTo>
                    <a:pt x="67532" y="254317"/>
                    <a:pt x="180404" y="254317"/>
                    <a:pt x="180404" y="254317"/>
                  </a:cubicBezTo>
                  <a:cubicBezTo>
                    <a:pt x="180404" y="254317"/>
                    <a:pt x="293275" y="254317"/>
                    <a:pt x="321373" y="246697"/>
                  </a:cubicBezTo>
                  <a:cubicBezTo>
                    <a:pt x="336899" y="242506"/>
                    <a:pt x="349091" y="230219"/>
                    <a:pt x="353282" y="214598"/>
                  </a:cubicBezTo>
                  <a:cubicBezTo>
                    <a:pt x="360807" y="186309"/>
                    <a:pt x="360807" y="127159"/>
                    <a:pt x="360807" y="127159"/>
                  </a:cubicBezTo>
                  <a:cubicBezTo>
                    <a:pt x="360807" y="127159"/>
                    <a:pt x="360807" y="68104"/>
                    <a:pt x="353282" y="39719"/>
                  </a:cubicBezTo>
                  <a:close/>
                  <a:moveTo>
                    <a:pt x="143542" y="180784"/>
                  </a:moveTo>
                  <a:lnTo>
                    <a:pt x="143542" y="73533"/>
                  </a:lnTo>
                  <a:lnTo>
                    <a:pt x="237839" y="127159"/>
                  </a:lnTo>
                  <a:lnTo>
                    <a:pt x="143542" y="1807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6B36695-9D44-CF4A-14FC-6D97E6B5EEB6}"/>
                </a:ext>
              </a:extLst>
            </p:cNvPr>
            <p:cNvSpPr/>
            <p:nvPr userDrawn="1"/>
          </p:nvSpPr>
          <p:spPr>
            <a:xfrm>
              <a:off x="2419238" y="1689595"/>
              <a:ext cx="1113317" cy="1113317"/>
            </a:xfrm>
            <a:custGeom>
              <a:avLst/>
              <a:gdLst>
                <a:gd name="connsiteX0" fmla="*/ 0 w 543305"/>
                <a:gd name="connsiteY0" fmla="*/ 0 h 543305"/>
                <a:gd name="connsiteX1" fmla="*/ 543306 w 543305"/>
                <a:gd name="connsiteY1" fmla="*/ 0 h 543305"/>
                <a:gd name="connsiteX2" fmla="*/ 543306 w 543305"/>
                <a:gd name="connsiteY2" fmla="*/ 543306 h 543305"/>
                <a:gd name="connsiteX3" fmla="*/ 0 w 543305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46E7525-5FF1-8346-5B8E-E85830C2BFE2}"/>
                </a:ext>
              </a:extLst>
            </p:cNvPr>
            <p:cNvSpPr/>
            <p:nvPr userDrawn="1"/>
          </p:nvSpPr>
          <p:spPr>
            <a:xfrm>
              <a:off x="2628279" y="2125633"/>
              <a:ext cx="149117" cy="479562"/>
            </a:xfrm>
            <a:custGeom>
              <a:avLst/>
              <a:gdLst>
                <a:gd name="connsiteX0" fmla="*/ 0 w 72770"/>
                <a:gd name="connsiteY0" fmla="*/ 0 h 234029"/>
                <a:gd name="connsiteX1" fmla="*/ 72771 w 72770"/>
                <a:gd name="connsiteY1" fmla="*/ 0 h 234029"/>
                <a:gd name="connsiteX2" fmla="*/ 72771 w 72770"/>
                <a:gd name="connsiteY2" fmla="*/ 234029 h 234029"/>
                <a:gd name="connsiteX3" fmla="*/ 0 w 72770"/>
                <a:gd name="connsiteY3" fmla="*/ 234029 h 23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770" h="234029">
                  <a:moveTo>
                    <a:pt x="0" y="0"/>
                  </a:moveTo>
                  <a:lnTo>
                    <a:pt x="72771" y="0"/>
                  </a:lnTo>
                  <a:lnTo>
                    <a:pt x="72771" y="234029"/>
                  </a:lnTo>
                  <a:lnTo>
                    <a:pt x="0" y="23402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2643B9D-593C-28B6-33C7-94AC849E27E6}"/>
                </a:ext>
              </a:extLst>
            </p:cNvPr>
            <p:cNvSpPr/>
            <p:nvPr userDrawn="1"/>
          </p:nvSpPr>
          <p:spPr>
            <a:xfrm>
              <a:off x="2616371" y="1887316"/>
              <a:ext cx="172539" cy="172930"/>
            </a:xfrm>
            <a:custGeom>
              <a:avLst/>
              <a:gdLst>
                <a:gd name="connsiteX0" fmla="*/ 42100 w 84200"/>
                <a:gd name="connsiteY0" fmla="*/ 0 h 84391"/>
                <a:gd name="connsiteX1" fmla="*/ 0 w 84200"/>
                <a:gd name="connsiteY1" fmla="*/ 42196 h 84391"/>
                <a:gd name="connsiteX2" fmla="*/ 42100 w 84200"/>
                <a:gd name="connsiteY2" fmla="*/ 84392 h 84391"/>
                <a:gd name="connsiteX3" fmla="*/ 84201 w 84200"/>
                <a:gd name="connsiteY3" fmla="*/ 42196 h 84391"/>
                <a:gd name="connsiteX4" fmla="*/ 42100 w 84200"/>
                <a:gd name="connsiteY4" fmla="*/ 0 h 8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00" h="84391">
                  <a:moveTo>
                    <a:pt x="42100" y="0"/>
                  </a:moveTo>
                  <a:cubicBezTo>
                    <a:pt x="18764" y="0"/>
                    <a:pt x="0" y="18860"/>
                    <a:pt x="0" y="42196"/>
                  </a:cubicBezTo>
                  <a:cubicBezTo>
                    <a:pt x="0" y="65532"/>
                    <a:pt x="18859" y="84392"/>
                    <a:pt x="42100" y="84392"/>
                  </a:cubicBezTo>
                  <a:cubicBezTo>
                    <a:pt x="65342" y="84392"/>
                    <a:pt x="84201" y="65532"/>
                    <a:pt x="84201" y="42196"/>
                  </a:cubicBezTo>
                  <a:cubicBezTo>
                    <a:pt x="84201" y="18860"/>
                    <a:pt x="65342" y="0"/>
                    <a:pt x="42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DA44CA4D-A7B1-8C2B-5E9A-F02818DF16DD}"/>
                </a:ext>
              </a:extLst>
            </p:cNvPr>
            <p:cNvSpPr/>
            <p:nvPr userDrawn="1"/>
          </p:nvSpPr>
          <p:spPr>
            <a:xfrm>
              <a:off x="2870888" y="2113727"/>
              <a:ext cx="464728" cy="491467"/>
            </a:xfrm>
            <a:custGeom>
              <a:avLst/>
              <a:gdLst>
                <a:gd name="connsiteX0" fmla="*/ 139446 w 226790"/>
                <a:gd name="connsiteY0" fmla="*/ 0 h 239839"/>
                <a:gd name="connsiteX1" fmla="*/ 70675 w 226790"/>
                <a:gd name="connsiteY1" fmla="*/ 37814 h 239839"/>
                <a:gd name="connsiteX2" fmla="*/ 69723 w 226790"/>
                <a:gd name="connsiteY2" fmla="*/ 37814 h 239839"/>
                <a:gd name="connsiteX3" fmla="*/ 69723 w 226790"/>
                <a:gd name="connsiteY3" fmla="*/ 5810 h 239839"/>
                <a:gd name="connsiteX4" fmla="*/ 0 w 226790"/>
                <a:gd name="connsiteY4" fmla="*/ 5810 h 239839"/>
                <a:gd name="connsiteX5" fmla="*/ 0 w 226790"/>
                <a:gd name="connsiteY5" fmla="*/ 239839 h 239839"/>
                <a:gd name="connsiteX6" fmla="*/ 72676 w 226790"/>
                <a:gd name="connsiteY6" fmla="*/ 239839 h 239839"/>
                <a:gd name="connsiteX7" fmla="*/ 72676 w 226790"/>
                <a:gd name="connsiteY7" fmla="*/ 124111 h 239839"/>
                <a:gd name="connsiteX8" fmla="*/ 116300 w 226790"/>
                <a:gd name="connsiteY8" fmla="*/ 64008 h 239839"/>
                <a:gd name="connsiteX9" fmla="*/ 154115 w 226790"/>
                <a:gd name="connsiteY9" fmla="*/ 126016 h 239839"/>
                <a:gd name="connsiteX10" fmla="*/ 154115 w 226790"/>
                <a:gd name="connsiteY10" fmla="*/ 239839 h 239839"/>
                <a:gd name="connsiteX11" fmla="*/ 226790 w 226790"/>
                <a:gd name="connsiteY11" fmla="*/ 239839 h 239839"/>
                <a:gd name="connsiteX12" fmla="*/ 226790 w 226790"/>
                <a:gd name="connsiteY12" fmla="*/ 111538 h 239839"/>
                <a:gd name="connsiteX13" fmla="*/ 139541 w 226790"/>
                <a:gd name="connsiteY13" fmla="*/ 95 h 23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790" h="239839">
                  <a:moveTo>
                    <a:pt x="139446" y="0"/>
                  </a:moveTo>
                  <a:cubicBezTo>
                    <a:pt x="104108" y="0"/>
                    <a:pt x="80391" y="19431"/>
                    <a:pt x="70675" y="37814"/>
                  </a:cubicBezTo>
                  <a:lnTo>
                    <a:pt x="69723" y="37814"/>
                  </a:lnTo>
                  <a:lnTo>
                    <a:pt x="69723" y="5810"/>
                  </a:lnTo>
                  <a:lnTo>
                    <a:pt x="0" y="5810"/>
                  </a:lnTo>
                  <a:lnTo>
                    <a:pt x="0" y="239839"/>
                  </a:lnTo>
                  <a:lnTo>
                    <a:pt x="72676" y="239839"/>
                  </a:lnTo>
                  <a:lnTo>
                    <a:pt x="72676" y="124111"/>
                  </a:lnTo>
                  <a:cubicBezTo>
                    <a:pt x="72676" y="93631"/>
                    <a:pt x="78486" y="64008"/>
                    <a:pt x="116300" y="64008"/>
                  </a:cubicBezTo>
                  <a:cubicBezTo>
                    <a:pt x="154115" y="64008"/>
                    <a:pt x="154115" y="98869"/>
                    <a:pt x="154115" y="126016"/>
                  </a:cubicBezTo>
                  <a:lnTo>
                    <a:pt x="154115" y="239839"/>
                  </a:lnTo>
                  <a:lnTo>
                    <a:pt x="226790" y="239839"/>
                  </a:lnTo>
                  <a:lnTo>
                    <a:pt x="226790" y="111538"/>
                  </a:lnTo>
                  <a:cubicBezTo>
                    <a:pt x="226790" y="48577"/>
                    <a:pt x="213170" y="95"/>
                    <a:pt x="139541" y="9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7235AA9-6C56-4AF4-5D5D-249E43C4A4B9}"/>
                </a:ext>
              </a:extLst>
            </p:cNvPr>
            <p:cNvSpPr/>
            <p:nvPr userDrawn="1"/>
          </p:nvSpPr>
          <p:spPr>
            <a:xfrm>
              <a:off x="8639104" y="1690572"/>
              <a:ext cx="1113317" cy="1113318"/>
            </a:xfrm>
            <a:custGeom>
              <a:avLst/>
              <a:gdLst>
                <a:gd name="connsiteX0" fmla="*/ 0 w 543305"/>
                <a:gd name="connsiteY0" fmla="*/ 0 h 543306"/>
                <a:gd name="connsiteX1" fmla="*/ 543306 w 543305"/>
                <a:gd name="connsiteY1" fmla="*/ 0 h 543306"/>
                <a:gd name="connsiteX2" fmla="*/ 543306 w 543305"/>
                <a:gd name="connsiteY2" fmla="*/ 543306 h 543306"/>
                <a:gd name="connsiteX3" fmla="*/ 0 w 543305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9F594E5-39F7-5122-ACD7-B01BB6AD6085}"/>
                </a:ext>
              </a:extLst>
            </p:cNvPr>
            <p:cNvSpPr/>
            <p:nvPr userDrawn="1"/>
          </p:nvSpPr>
          <p:spPr>
            <a:xfrm>
              <a:off x="9250999" y="2079375"/>
              <a:ext cx="335713" cy="335714"/>
            </a:xfrm>
            <a:custGeom>
              <a:avLst/>
              <a:gdLst>
                <a:gd name="connsiteX0" fmla="*/ 81915 w 163830"/>
                <a:gd name="connsiteY0" fmla="*/ 0 h 163830"/>
                <a:gd name="connsiteX1" fmla="*/ 0 w 163830"/>
                <a:gd name="connsiteY1" fmla="*/ 81915 h 163830"/>
                <a:gd name="connsiteX2" fmla="*/ 81915 w 163830"/>
                <a:gd name="connsiteY2" fmla="*/ 163830 h 163830"/>
                <a:gd name="connsiteX3" fmla="*/ 163830 w 163830"/>
                <a:gd name="connsiteY3" fmla="*/ 81915 h 163830"/>
                <a:gd name="connsiteX4" fmla="*/ 81915 w 163830"/>
                <a:gd name="connsiteY4" fmla="*/ 0 h 1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30">
                  <a:moveTo>
                    <a:pt x="81915" y="0"/>
                  </a:moveTo>
                  <a:cubicBezTo>
                    <a:pt x="36672" y="0"/>
                    <a:pt x="0" y="36671"/>
                    <a:pt x="0" y="81915"/>
                  </a:cubicBezTo>
                  <a:cubicBezTo>
                    <a:pt x="0" y="127159"/>
                    <a:pt x="36672" y="163830"/>
                    <a:pt x="81915" y="163830"/>
                  </a:cubicBezTo>
                  <a:cubicBezTo>
                    <a:pt x="127159" y="163830"/>
                    <a:pt x="163830" y="127159"/>
                    <a:pt x="163830" y="81915"/>
                  </a:cubicBezTo>
                  <a:cubicBezTo>
                    <a:pt x="163830" y="36671"/>
                    <a:pt x="127159" y="0"/>
                    <a:pt x="8191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221A9C7-C6AD-0626-16DC-BE6C6F74C19B}"/>
                </a:ext>
              </a:extLst>
            </p:cNvPr>
            <p:cNvSpPr/>
            <p:nvPr userDrawn="1"/>
          </p:nvSpPr>
          <p:spPr>
            <a:xfrm>
              <a:off x="8804617" y="2079375"/>
              <a:ext cx="335713" cy="335711"/>
            </a:xfrm>
            <a:custGeom>
              <a:avLst/>
              <a:gdLst>
                <a:gd name="connsiteX0" fmla="*/ 163830 w 163830"/>
                <a:gd name="connsiteY0" fmla="*/ 81915 h 163829"/>
                <a:gd name="connsiteX1" fmla="*/ 81915 w 163830"/>
                <a:gd name="connsiteY1" fmla="*/ 163830 h 163829"/>
                <a:gd name="connsiteX2" fmla="*/ 1 w 163830"/>
                <a:gd name="connsiteY2" fmla="*/ 81915 h 163829"/>
                <a:gd name="connsiteX3" fmla="*/ 81915 w 163830"/>
                <a:gd name="connsiteY3" fmla="*/ 0 h 163829"/>
                <a:gd name="connsiteX4" fmla="*/ 163830 w 163830"/>
                <a:gd name="connsiteY4" fmla="*/ 8191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29">
                  <a:moveTo>
                    <a:pt x="163830" y="81915"/>
                  </a:moveTo>
                  <a:cubicBezTo>
                    <a:pt x="163830" y="127155"/>
                    <a:pt x="127156" y="163830"/>
                    <a:pt x="81915" y="163830"/>
                  </a:cubicBezTo>
                  <a:cubicBezTo>
                    <a:pt x="36675" y="163830"/>
                    <a:pt x="1" y="127155"/>
                    <a:pt x="1" y="81915"/>
                  </a:cubicBezTo>
                  <a:cubicBezTo>
                    <a:pt x="1" y="36675"/>
                    <a:pt x="36675" y="0"/>
                    <a:pt x="81915" y="0"/>
                  </a:cubicBezTo>
                  <a:cubicBezTo>
                    <a:pt x="127156" y="0"/>
                    <a:pt x="163830" y="36675"/>
                    <a:pt x="163830" y="81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2857E51B-0F39-5587-5067-B466AAFF56CC}"/>
                </a:ext>
              </a:extLst>
            </p:cNvPr>
            <p:cNvSpPr/>
            <p:nvPr userDrawn="1"/>
          </p:nvSpPr>
          <p:spPr>
            <a:xfrm>
              <a:off x="3663327" y="1692523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9A5378C-3AD2-2975-4FF4-12CED3D169DD}"/>
                </a:ext>
              </a:extLst>
            </p:cNvPr>
            <p:cNvSpPr/>
            <p:nvPr userDrawn="1"/>
          </p:nvSpPr>
          <p:spPr>
            <a:xfrm>
              <a:off x="3867878" y="1889462"/>
              <a:ext cx="703825" cy="719246"/>
            </a:xfrm>
            <a:custGeom>
              <a:avLst/>
              <a:gdLst>
                <a:gd name="connsiteX0" fmla="*/ 204406 w 343471"/>
                <a:gd name="connsiteY0" fmla="*/ 148685 h 350996"/>
                <a:gd name="connsiteX1" fmla="*/ 332327 w 343471"/>
                <a:gd name="connsiteY1" fmla="*/ 0 h 350996"/>
                <a:gd name="connsiteX2" fmla="*/ 302038 w 343471"/>
                <a:gd name="connsiteY2" fmla="*/ 0 h 350996"/>
                <a:gd name="connsiteX3" fmla="*/ 190976 w 343471"/>
                <a:gd name="connsiteY3" fmla="*/ 129064 h 350996"/>
                <a:gd name="connsiteX4" fmla="*/ 102298 w 343471"/>
                <a:gd name="connsiteY4" fmla="*/ 0 h 350996"/>
                <a:gd name="connsiteX5" fmla="*/ 0 w 343471"/>
                <a:gd name="connsiteY5" fmla="*/ 0 h 350996"/>
                <a:gd name="connsiteX6" fmla="*/ 134112 w 343471"/>
                <a:gd name="connsiteY6" fmla="*/ 195167 h 350996"/>
                <a:gd name="connsiteX7" fmla="*/ 0 w 343471"/>
                <a:gd name="connsiteY7" fmla="*/ 350996 h 350996"/>
                <a:gd name="connsiteX8" fmla="*/ 30289 w 343471"/>
                <a:gd name="connsiteY8" fmla="*/ 350996 h 350996"/>
                <a:gd name="connsiteX9" fmla="*/ 147542 w 343471"/>
                <a:gd name="connsiteY9" fmla="*/ 214694 h 350996"/>
                <a:gd name="connsiteX10" fmla="*/ 241173 w 343471"/>
                <a:gd name="connsiteY10" fmla="*/ 350996 h 350996"/>
                <a:gd name="connsiteX11" fmla="*/ 343471 w 343471"/>
                <a:gd name="connsiteY11" fmla="*/ 350996 h 350996"/>
                <a:gd name="connsiteX12" fmla="*/ 204406 w 343471"/>
                <a:gd name="connsiteY12" fmla="*/ 148590 h 350996"/>
                <a:gd name="connsiteX13" fmla="*/ 204406 w 343471"/>
                <a:gd name="connsiteY13" fmla="*/ 148590 h 350996"/>
                <a:gd name="connsiteX14" fmla="*/ 162973 w 343471"/>
                <a:gd name="connsiteY14" fmla="*/ 196882 h 350996"/>
                <a:gd name="connsiteX15" fmla="*/ 149352 w 343471"/>
                <a:gd name="connsiteY15" fmla="*/ 177451 h 350996"/>
                <a:gd name="connsiteX16" fmla="*/ 41243 w 343471"/>
                <a:gd name="connsiteY16" fmla="*/ 22765 h 350996"/>
                <a:gd name="connsiteX17" fmla="*/ 87821 w 343471"/>
                <a:gd name="connsiteY17" fmla="*/ 22765 h 350996"/>
                <a:gd name="connsiteX18" fmla="*/ 175070 w 343471"/>
                <a:gd name="connsiteY18" fmla="*/ 147542 h 350996"/>
                <a:gd name="connsiteX19" fmla="*/ 188690 w 343471"/>
                <a:gd name="connsiteY19" fmla="*/ 166973 h 350996"/>
                <a:gd name="connsiteX20" fmla="*/ 302133 w 343471"/>
                <a:gd name="connsiteY20" fmla="*/ 329184 h 350996"/>
                <a:gd name="connsiteX21" fmla="*/ 255556 w 343471"/>
                <a:gd name="connsiteY21" fmla="*/ 329184 h 350996"/>
                <a:gd name="connsiteX22" fmla="*/ 162973 w 343471"/>
                <a:gd name="connsiteY22" fmla="*/ 196787 h 350996"/>
                <a:gd name="connsiteX23" fmla="*/ 162973 w 343471"/>
                <a:gd name="connsiteY23" fmla="*/ 196787 h 35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3471" h="350996">
                  <a:moveTo>
                    <a:pt x="204406" y="148685"/>
                  </a:moveTo>
                  <a:lnTo>
                    <a:pt x="332327" y="0"/>
                  </a:lnTo>
                  <a:lnTo>
                    <a:pt x="302038" y="0"/>
                  </a:lnTo>
                  <a:lnTo>
                    <a:pt x="190976" y="129064"/>
                  </a:lnTo>
                  <a:lnTo>
                    <a:pt x="102298" y="0"/>
                  </a:lnTo>
                  <a:lnTo>
                    <a:pt x="0" y="0"/>
                  </a:lnTo>
                  <a:lnTo>
                    <a:pt x="134112" y="195167"/>
                  </a:lnTo>
                  <a:lnTo>
                    <a:pt x="0" y="350996"/>
                  </a:lnTo>
                  <a:lnTo>
                    <a:pt x="30289" y="350996"/>
                  </a:lnTo>
                  <a:lnTo>
                    <a:pt x="147542" y="214694"/>
                  </a:lnTo>
                  <a:lnTo>
                    <a:pt x="241173" y="350996"/>
                  </a:lnTo>
                  <a:lnTo>
                    <a:pt x="343471" y="350996"/>
                  </a:lnTo>
                  <a:lnTo>
                    <a:pt x="204406" y="148590"/>
                  </a:lnTo>
                  <a:lnTo>
                    <a:pt x="204406" y="148590"/>
                  </a:lnTo>
                  <a:close/>
                  <a:moveTo>
                    <a:pt x="162973" y="196882"/>
                  </a:moveTo>
                  <a:lnTo>
                    <a:pt x="149352" y="177451"/>
                  </a:lnTo>
                  <a:lnTo>
                    <a:pt x="41243" y="22765"/>
                  </a:lnTo>
                  <a:lnTo>
                    <a:pt x="87821" y="22765"/>
                  </a:lnTo>
                  <a:lnTo>
                    <a:pt x="175070" y="147542"/>
                  </a:lnTo>
                  <a:lnTo>
                    <a:pt x="188690" y="166973"/>
                  </a:lnTo>
                  <a:lnTo>
                    <a:pt x="302133" y="329184"/>
                  </a:lnTo>
                  <a:lnTo>
                    <a:pt x="255556" y="329184"/>
                  </a:lnTo>
                  <a:lnTo>
                    <a:pt x="162973" y="196787"/>
                  </a:lnTo>
                  <a:lnTo>
                    <a:pt x="162973" y="19678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Aptos Light" panose="020B0004020202020204" pitchFamily="34" charset="0"/>
              </a:endParaRPr>
            </a:p>
          </p:txBody>
        </p:sp>
      </p:grpSp>
      <p:sp>
        <p:nvSpPr>
          <p:cNvPr id="2" name="Title 7">
            <a:extLst>
              <a:ext uri="{FF2B5EF4-FFF2-40B4-BE49-F238E27FC236}">
                <a16:creationId xmlns:a16="http://schemas.microsoft.com/office/drawing/2014/main" id="{DAE593DB-8ADA-2B81-0837-94D520E63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Keep up with ORNL’s latest scientific discoveries, economic impacts, and solutions for energy and national security</a:t>
            </a:r>
          </a:p>
        </p:txBody>
      </p:sp>
    </p:spTree>
    <p:extLst>
      <p:ext uri="{BB962C8B-B14F-4D97-AF65-F5344CB8AC3E}">
        <p14:creationId xmlns:p14="http://schemas.microsoft.com/office/powerpoint/2010/main" val="28733716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|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85">
            <a:extLst>
              <a:ext uri="{FF2B5EF4-FFF2-40B4-BE49-F238E27FC236}">
                <a16:creationId xmlns:a16="http://schemas.microsoft.com/office/drawing/2014/main" id="{89B1F087-DF83-09A8-95A1-156B3E9031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CAC3282-DC62-4A2A-767F-48373E113E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9255" y="2735048"/>
            <a:ext cx="5773490" cy="138790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CBD199E-AAB8-C86C-7065-B0DAAC996DDA}"/>
              </a:ext>
            </a:extLst>
          </p:cNvPr>
          <p:cNvGrpSpPr/>
          <p:nvPr userDrawn="1"/>
        </p:nvGrpSpPr>
        <p:grpSpPr>
          <a:xfrm>
            <a:off x="4217981" y="6109219"/>
            <a:ext cx="4556510" cy="438912"/>
            <a:chOff x="859536" y="6108192"/>
            <a:chExt cx="4556510" cy="43891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197F97-DD05-46DC-A43C-9A85A489A4DD}"/>
                </a:ext>
              </a:extLst>
            </p:cNvPr>
            <p:cNvSpPr txBox="1"/>
            <p:nvPr userDrawn="1"/>
          </p:nvSpPr>
          <p:spPr>
            <a:xfrm>
              <a:off x="2368064" y="6156068"/>
              <a:ext cx="3047982" cy="369332"/>
            </a:xfrm>
            <a:prstGeom prst="rect">
              <a:avLst/>
            </a:prstGeom>
            <a:noFill/>
          </p:spPr>
          <p:txBody>
            <a:bodyPr wrap="square" lIns="182880" rtlCol="0">
              <a:spAutoFit/>
            </a:bodyPr>
            <a:lstStyle/>
            <a:p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ORNL IS MANAGED BY UT-BATTELLE LLC </a:t>
              </a:r>
              <a:b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</a:br>
              <a:r>
                <a:rPr lang="en-US" sz="900" b="0" i="0" dirty="0">
                  <a:solidFill>
                    <a:schemeClr val="bg1"/>
                  </a:solidFill>
                  <a:latin typeface="+mn-lt"/>
                  <a:ea typeface="Aptos" panose="02000000000000000000" pitchFamily="2" charset="0"/>
                </a:rPr>
                <a:t>FOR THE US DEPARTMENT OF ENERGY</a:t>
              </a:r>
            </a:p>
          </p:txBody>
        </p:sp>
        <p:pic>
          <p:nvPicPr>
            <p:cNvPr id="8" name="Picture 7" descr="Text&#10;&#10;AI-generated content may be incorrect.">
              <a:extLst>
                <a:ext uri="{FF2B5EF4-FFF2-40B4-BE49-F238E27FC236}">
                  <a16:creationId xmlns:a16="http://schemas.microsoft.com/office/drawing/2014/main" id="{CCDFDBFA-B5E9-EA5B-FE47-B868EED9A8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59536" y="6108192"/>
              <a:ext cx="1528065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415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753CB-6476-BF2C-3CDC-FAB102C7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33DD6-9940-13F2-ECB0-187773310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692" y="1817556"/>
            <a:ext cx="11492432" cy="40205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25FC33D5-6A3D-626E-929B-EDEF84A7F09B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100" b="1" i="0" smtClean="0">
                <a:solidFill>
                  <a:schemeClr val="bg2"/>
                </a:solidFill>
                <a:latin typeface="+mn-lt"/>
                <a:ea typeface="Aptos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100" b="1" i="0" dirty="0">
              <a:solidFill>
                <a:schemeClr val="bg2"/>
              </a:solidFill>
              <a:latin typeface="+mn-lt"/>
              <a:ea typeface="Aptos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1" name="Rectangle 256">
            <a:extLst>
              <a:ext uri="{FF2B5EF4-FFF2-40B4-BE49-F238E27FC236}">
                <a16:creationId xmlns:a16="http://schemas.microsoft.com/office/drawing/2014/main" id="{DF5E4726-94A1-FED7-677B-96B37254660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7599464" y="6576851"/>
            <a:ext cx="3860800" cy="152400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2"/>
                </a:solidFill>
                <a:latin typeface="Aptos Light" panose="020B0004020202020204" pitchFamily="34" charset="0"/>
                <a:ea typeface="Aptos" panose="02000000000000000000" pitchFamily="2" charset="0"/>
                <a:cs typeface="Arial" pitchFamily="34" charset="0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E8AFC4-0CE6-E93B-9E8C-DB368BD3C3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1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939" r:id="rId2"/>
    <p:sldLayoutId id="2147483896" r:id="rId3"/>
    <p:sldLayoutId id="2147483927" r:id="rId4"/>
    <p:sldLayoutId id="2147483941" r:id="rId5"/>
    <p:sldLayoutId id="2147483832" r:id="rId6"/>
    <p:sldLayoutId id="2147483894" r:id="rId7"/>
    <p:sldLayoutId id="2147483829" r:id="rId8"/>
    <p:sldLayoutId id="2147483897" r:id="rId9"/>
    <p:sldLayoutId id="2147483833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834" r:id="rId16"/>
    <p:sldLayoutId id="2147483940" r:id="rId17"/>
    <p:sldLayoutId id="2147483835" r:id="rId18"/>
    <p:sldLayoutId id="2147483928" r:id="rId19"/>
    <p:sldLayoutId id="2147483906" r:id="rId20"/>
    <p:sldLayoutId id="2147483905" r:id="rId21"/>
    <p:sldLayoutId id="2147483937" r:id="rId22"/>
    <p:sldLayoutId id="2147483947" r:id="rId23"/>
    <p:sldLayoutId id="2147483948" r:id="rId24"/>
    <p:sldLayoutId id="2147483951" r:id="rId25"/>
    <p:sldLayoutId id="2147483949" r:id="rId26"/>
    <p:sldLayoutId id="2147483959" r:id="rId27"/>
    <p:sldLayoutId id="2147483861" r:id="rId28"/>
    <p:sldLayoutId id="2147483958" r:id="rId29"/>
    <p:sldLayoutId id="2147483849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Aptos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None/>
        <a:defRPr sz="22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6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Aptos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8B1F-BFB1-CC50-2580-E2ADE95FF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>
                <a:latin typeface="Segoe UI" panose="020B0502040204020203" pitchFamily="34" charset="0"/>
              </a:rPr>
              <a:t>Commercializing ORNL’s DT Cryogenic Pellet Injection System</a:t>
            </a:r>
            <a:br>
              <a:rPr lang="en-US" b="0" dirty="0">
                <a:latin typeface="Segoe UI" panose="020B0502040204020203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3AA3E-CA79-A928-3E5C-72DD8F594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AB052-C5ED-4604-BB32-C7CFB3654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July 13,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69892-B8FD-9314-2137-FD44D1A12A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Larry R. Baylor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AE62E-70C2-2BB8-D0AC-19F2732450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FFESD</a:t>
            </a:r>
          </a:p>
        </p:txBody>
      </p:sp>
    </p:spTree>
    <p:extLst>
      <p:ext uri="{BB962C8B-B14F-4D97-AF65-F5344CB8AC3E}">
        <p14:creationId xmlns:p14="http://schemas.microsoft.com/office/powerpoint/2010/main" val="425199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4FB74F-EE75-842C-03CE-DA220AD0491E}"/>
              </a:ext>
            </a:extLst>
          </p:cNvPr>
          <p:cNvSpPr txBox="1"/>
          <p:nvPr/>
        </p:nvSpPr>
        <p:spPr>
          <a:xfrm>
            <a:off x="148590" y="153690"/>
            <a:ext cx="11499672" cy="523220"/>
          </a:xfrm>
          <a:prstGeom prst="rect">
            <a:avLst/>
          </a:prstGeom>
          <a:noFill/>
          <a:ln w="15875" cmpd="dbl"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Commercializing ORNL’s </a:t>
            </a:r>
            <a:r>
              <a:rPr lang="en-US" sz="2800" b="1" kern="0" dirty="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smartGIScavp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9ADBC-CC55-0492-A507-1FA4F12D62C3}"/>
              </a:ext>
            </a:extLst>
          </p:cNvPr>
          <p:cNvSpPr/>
          <p:nvPr/>
        </p:nvSpPr>
        <p:spPr>
          <a:xfrm>
            <a:off x="153271" y="6985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Opportunity/Technology 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21EE0-26C7-7EE0-0A5E-6416A36D65DD}"/>
              </a:ext>
            </a:extLst>
          </p:cNvPr>
          <p:cNvSpPr txBox="1"/>
          <p:nvPr/>
        </p:nvSpPr>
        <p:spPr>
          <a:xfrm>
            <a:off x="153271" y="1066800"/>
            <a:ext cx="5930900" cy="2346796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Problem addressed: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 Research teams and government labs need to rapidly prototype multi-page, data-driven web applications (dashboards, GIS maps, data tables) but lack front-end engineering capacity. Manual UI development takes weeks and creates a bottleneck between data science and stakeholder delivery.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Te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chnical description: N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SRD GIS Builder is a self-hosted, AI-powered React application generator. Users describe pages in plain English, optionally attach CSV data or SVG mockups, and a two-model LLM pipeline (Thinker + Coder) generates, builds, and deploys a live multi-page React app with Leaflet maps, charts, and tables. The system uses RAG (FAISS + sentence-transformers) over a golden-example codebase to inject proven patterns into every prompt.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 components: Rea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ct 18 / TypeScript frontend, Express.js backend with SSE streaming, Vite-based project scaffolding, automated build-fix retry loop, NGINX reverse proxy, Docker Compose orchestration, and a persistent RAG microservice (Python/</a:t>
            </a:r>
            <a:r>
              <a:rPr lang="en-US" sz="850" dirty="0" err="1">
                <a:solidFill>
                  <a:srgbClr val="000000"/>
                </a:solidFill>
                <a:latin typeface="Calibri" panose="020F0502020204030204" pitchFamily="34" charset="0"/>
              </a:rPr>
              <a:t>FastAPI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).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Develo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pment stage: Fully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 functional prototype deployed at demo2.recoil.ise.utk.edu, used internally by ORNL research teams.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Fundamen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tal advantage: End-to-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end automation from natural-language requirements to a deployed, production-quality React application in minutes rather than weeks.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023C39-81D8-7FD2-63E3-904E0F64524D}"/>
              </a:ext>
            </a:extLst>
          </p:cNvPr>
          <p:cNvSpPr/>
          <p:nvPr/>
        </p:nvSpPr>
        <p:spPr>
          <a:xfrm>
            <a:off x="6160371" y="688514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</a:rPr>
              <a:t>Market Opportunity and Expected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0ADFAA-327F-010F-AA5F-51A95D3973A3}"/>
              </a:ext>
            </a:extLst>
          </p:cNvPr>
          <p:cNvSpPr txBox="1"/>
          <p:nvPr/>
        </p:nvSpPr>
        <p:spPr>
          <a:xfrm>
            <a:off x="6160371" y="1066800"/>
            <a:ext cx="5930900" cy="2085186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Who has the problem now: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 National laboratories, university research groups, government agencies, and defense programs that produce large datasets but lack dedicated front-end developers to build interactive dashboards and GIS visualizations.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Cu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rrent solutions &amp; gap: E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xisting tools (</a:t>
            </a:r>
            <a:r>
              <a:rPr lang="en-US" sz="850" dirty="0" err="1">
                <a:solidFill>
                  <a:srgbClr val="000000"/>
                </a:solidFill>
                <a:latin typeface="Calibri" panose="020F0502020204030204" pitchFamily="34" charset="0"/>
              </a:rPr>
              <a:t>Streamlit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850" dirty="0" err="1">
                <a:solidFill>
                  <a:srgbClr val="000000"/>
                </a:solidFill>
                <a:latin typeface="Calibri" panose="020F0502020204030204" pitchFamily="34" charset="0"/>
              </a:rPr>
              <a:t>Gradana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, Retool) offer widget-based dashboards but cannot generate full multi-page React apps with custom maps, routing, and production builds. Manual development requires hiring front-end engineers. They are not specialized for geospatial 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data analysis</a:t>
            </a:r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Quan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tify technical deltas: Red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uces app creation from 2-4 weeks to under 10 minutes. Supports 3 page types (Home, Base, Geo/Map) with automatic CSV column detection, Leaflet integration, and responsive layouts. Two-model pipeline (Thinker + Coder) with automated build-fix loops achieves first-attempt success rates above 80%.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Applic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ations (rough order): (1) O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RNL internal research dashboards, (2) DOE environmental and energy program portals, (3) defense/intelligence rapid prototyping, (4) commercial SaaS for non-technical teams.</a:t>
            </a:r>
          </a:p>
          <a:p>
            <a:endParaRPr lang="en-US" sz="8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Licensin</a:t>
            </a:r>
            <a:r>
              <a:rPr lang="en-US" sz="850" b="1" dirty="0">
                <a:solidFill>
                  <a:srgbClr val="000000"/>
                </a:solidFill>
                <a:latin typeface="Calibri" panose="020F0502020204030204" pitchFamily="34" charset="0"/>
              </a:rPr>
              <a:t>g pathway (recommendation): Interna</a:t>
            </a:r>
            <a:r>
              <a:rPr lang="en-US" sz="850" dirty="0">
                <a:solidFill>
                  <a:srgbClr val="000000"/>
                </a:solidFill>
                <a:latin typeface="Calibri" panose="020F0502020204030204" pitchFamily="34" charset="0"/>
              </a:rPr>
              <a:t>l ORNL deployment first, then DOE-wide shared service, followed by CRADA or option-to-license for commercial partners.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CAB29-DE60-D22C-31CE-306D44790C10}"/>
              </a:ext>
            </a:extLst>
          </p:cNvPr>
          <p:cNvSpPr/>
          <p:nvPr/>
        </p:nvSpPr>
        <p:spPr>
          <a:xfrm>
            <a:off x="127000" y="34671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Go-to-Market Plan and Technical Development 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2A43AD-FAE0-37E5-0DA5-37DE369E3545}"/>
              </a:ext>
            </a:extLst>
          </p:cNvPr>
          <p:cNvSpPr txBox="1"/>
          <p:nvPr/>
        </p:nvSpPr>
        <p:spPr>
          <a:xfrm>
            <a:off x="127000" y="3835400"/>
            <a:ext cx="5930900" cy="2739211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Months 1-3 (internal validation):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Expand pilot with 3-5 ORNL divisions; collect user feedback on page types, model quality, and build success rates; harden Docker deployment and CI/CD pipeline; publish internal technology listing.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Mo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nths 2-8 (technical development):</a:t>
            </a:r>
          </a:p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Validate RAG pipeline accuracy (FAISS + sentence-transformers) across 50+ golden examples; add new page types (charts, forms, admin panels).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Integrate additional LLM backends (Anthropic Claude, OpenAI GPT-4o) alongside self-hosted Ollama (Llama, Qwen, DeepSeek, Mistral, Code Llama).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Build multi-user project management, authentication, and role-based access control.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Months 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6-12 (go-to-market):</a:t>
            </a:r>
          </a:p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• Pack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age as a turnkey Docker appliance for DOE labs and defense customers.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Publish case studies, host technical webinars, and present at DOE/ORNL tech transfer events.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Negotiate CRADA partnerships with 1-2 commercial integrators.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Expected out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comes: A productio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n-ready platform generating full-stack React applications from natural language, with documented API, user guide, and deployment automation.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Key risks: LLM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 output qu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ality variability; build-fix loop edge cases; dependency on Ollama uptime; limited page-type coverage for complex enterprise UIs.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C03B5A-B163-61E1-C40D-FAE14FF4D18F}"/>
              </a:ext>
            </a:extLst>
          </p:cNvPr>
          <p:cNvSpPr/>
          <p:nvPr/>
        </p:nvSpPr>
        <p:spPr>
          <a:xfrm>
            <a:off x="6134100" y="34671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Value Proposition and Deployment Plan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A9D3D9-2292-CDFA-C09F-BBF5119B6379}"/>
              </a:ext>
            </a:extLst>
          </p:cNvPr>
          <p:cNvSpPr txBox="1"/>
          <p:nvPr/>
        </p:nvSpPr>
        <p:spPr>
          <a:xfrm>
            <a:off x="6134100" y="3835400"/>
            <a:ext cx="5930900" cy="2477601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Alternatives: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Streamlit (Python-only, no React output); Retool/Appsmith (widget-based, no code generation); manual front-end development (slow, expensive); ChatGPT/Copilot (generates snippets, not deployable apps).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Wh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y better: N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SRD GIS Builder produces complete, deployable multi-page React applications with routing, Leaflet maps, data tables, and responsive CSS from a single natural-language prompt. The RAG-augmented two-model pipeline ensures high code quality, and the automated build-fix loop handles compilation errors without user intervention.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Inte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gration challenge: Low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-Medium. Fully containerized (Docker Compose), single-port deployment behind NGINX. Requires only an Ollama-compatible LLM endpoint. No external database needed; projects persist in Docker volumes.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Privat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e-sector partners: Cloud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infrastructure providers; defense contractors needing rapid dashboard prototyping; GIS/mapping companies; DOE contractor organizations.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End user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s/customers: ORNL re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searchers and program managers; DOE environmental monitoring teams; university data science labs; defense and intelligence analysts needing rapid data visualization.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Deployment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: Docker Co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mpose on any Linux/Windows host. Production instance at demo2.recoil.ise.utk.edu:8432. NGINX reverse proxy with Let's Encrypt SSL. Persistent volumes for projects and RAG cache.</a:t>
            </a:r>
          </a:p>
        </p:txBody>
      </p:sp>
    </p:spTree>
    <p:extLst>
      <p:ext uri="{BB962C8B-B14F-4D97-AF65-F5344CB8AC3E}">
        <p14:creationId xmlns:p14="http://schemas.microsoft.com/office/powerpoint/2010/main" val="427378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A409-A483-88E3-4A82-6034295C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1" y="365125"/>
            <a:ext cx="4306747" cy="1900997"/>
          </a:xfrm>
        </p:spPr>
        <p:txBody>
          <a:bodyPr/>
          <a:lstStyle/>
          <a:p>
            <a:r>
              <a:rPr lang="en-US" sz="2400" dirty="0"/>
              <a:t>ORNL has pioneered with an automated interface for smart generation of dashboards based on paired RAG + LLMs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3C383F2-F1F4-00E3-E414-CBC78BB3B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36" y="1821854"/>
            <a:ext cx="2334402" cy="50361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0CEB4D-1D13-A5F5-E2D5-AB66000DB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925" y="19529"/>
            <a:ext cx="7509075" cy="449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9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4205E2EA-4360-2C33-EE58-D04D645FE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962626"/>
              </p:ext>
            </p:extLst>
          </p:nvPr>
        </p:nvGraphicFramePr>
        <p:xfrm>
          <a:off x="24627" y="2331720"/>
          <a:ext cx="12167369" cy="2749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4325600" imgH="2584315" progId="Excel.Sheet.12">
                  <p:embed/>
                </p:oleObj>
              </mc:Choice>
              <mc:Fallback>
                <p:oleObj name="Worksheet" r:id="rId3" imgW="14325600" imgH="25843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27" y="2331720"/>
                        <a:ext cx="12167369" cy="2749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8006E4A-B723-D4E8-8AC7-062DC1B3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60" y="201650"/>
            <a:ext cx="11492432" cy="886397"/>
          </a:xfrm>
        </p:spPr>
        <p:txBody>
          <a:bodyPr/>
          <a:lstStyle/>
          <a:p>
            <a:r>
              <a:rPr lang="en-US" sz="2800" dirty="0"/>
              <a:t>Preliminary Budget and Timeline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7C8217-68E5-9983-B44E-CC3D23399E5E}"/>
              </a:ext>
            </a:extLst>
          </p:cNvPr>
          <p:cNvCxnSpPr>
            <a:cxnSpLocks/>
          </p:cNvCxnSpPr>
          <p:nvPr/>
        </p:nvCxnSpPr>
        <p:spPr>
          <a:xfrm>
            <a:off x="9273286" y="2185416"/>
            <a:ext cx="0" cy="3072384"/>
          </a:xfrm>
          <a:prstGeom prst="line">
            <a:avLst/>
          </a:prstGeom>
          <a:ln w="19050">
            <a:solidFill>
              <a:schemeClr val="accent4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B2E957-2432-18A3-278D-9D1F545C218B}"/>
              </a:ext>
            </a:extLst>
          </p:cNvPr>
          <p:cNvSpPr txBox="1"/>
          <p:nvPr/>
        </p:nvSpPr>
        <p:spPr>
          <a:xfrm>
            <a:off x="7156590" y="2402575"/>
            <a:ext cx="21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Go/No go Decision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FCAA4-295B-A23C-06C0-DF735D56D930}"/>
              </a:ext>
            </a:extLst>
          </p:cNvPr>
          <p:cNvSpPr txBox="1"/>
          <p:nvPr/>
        </p:nvSpPr>
        <p:spPr>
          <a:xfrm>
            <a:off x="1846653" y="5441111"/>
            <a:ext cx="9923511" cy="1015663"/>
          </a:xfrm>
          <a:prstGeom prst="rect">
            <a:avLst/>
          </a:prstGeom>
          <a:noFill/>
          <a:ln>
            <a:solidFill>
              <a:srgbClr val="00454D"/>
            </a:solidFill>
          </a:ln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Duration:</a:t>
            </a:r>
            <a:r>
              <a:rPr lang="en-US" sz="1200" dirty="0"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 Technology Innovation Program (TIP) funding is provided in annual rounds.  Year 2 funding will be made available for the top performing project(s) from Year 1 that result in technology IP licenses.</a:t>
            </a:r>
            <a:endParaRPr kumimoji="0" 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Type: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Identify the funded work or purchases (%FTE, others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, supplies, equip., materials, travel, computers and computing equipment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). Additional details in notes windows.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b="1" baseline="30000" dirty="0">
                <a:latin typeface="Arial" panose="020B0604020202020204" pitchFamily="34" charset="0"/>
                <a:cs typeface="Arial" pitchFamily="34" charset="0"/>
              </a:rPr>
              <a:t>4</a:t>
            </a:r>
            <a:r>
              <a:rPr lang="en-US" sz="1200" b="1" dirty="0">
                <a:latin typeface="Arial" panose="020B0604020202020204" pitchFamily="34" charset="0"/>
                <a:cs typeface="Arial" pitchFamily="34" charset="0"/>
              </a:rPr>
              <a:t>Overhead:</a:t>
            </a:r>
            <a:r>
              <a:rPr lang="en-US" sz="1200" dirty="0">
                <a:latin typeface="Arial" panose="020B0604020202020204" pitchFamily="34" charset="0"/>
                <a:cs typeface="Arial" pitchFamily="34" charset="0"/>
              </a:rPr>
              <a:t>  Apply normal org burden, but do not apply laboratory overhead.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77315009"/>
      </p:ext>
    </p:extLst>
  </p:cSld>
  <p:clrMapOvr>
    <a:masterClrMapping/>
  </p:clrMapOvr>
</p:sld>
</file>

<file path=ppt/theme/theme1.xml><?xml version="1.0" encoding="utf-8"?>
<a:theme xmlns:a="http://schemas.openxmlformats.org/drawingml/2006/main" name="ORNL Presentation">
  <a:themeElements>
    <a:clrScheme name="ORNL Color TEST">
      <a:dk1>
        <a:srgbClr val="373A36"/>
      </a:dk1>
      <a:lt1>
        <a:srgbClr val="FFFFFF"/>
      </a:lt1>
      <a:dk2>
        <a:srgbClr val="00662C"/>
      </a:dk2>
      <a:lt2>
        <a:srgbClr val="DBDCDB"/>
      </a:lt2>
      <a:accent1>
        <a:srgbClr val="00454D"/>
      </a:accent1>
      <a:accent2>
        <a:srgbClr val="006BA6"/>
      </a:accent2>
      <a:accent3>
        <a:srgbClr val="00B38F"/>
      </a:accent3>
      <a:accent4>
        <a:srgbClr val="7DBA00"/>
      </a:accent4>
      <a:accent5>
        <a:srgbClr val="FF9E1B"/>
      </a:accent5>
      <a:accent6>
        <a:srgbClr val="B50093"/>
      </a:accent6>
      <a:hlink>
        <a:srgbClr val="00BDB5"/>
      </a:hlink>
      <a:folHlink>
        <a:srgbClr val="00662C"/>
      </a:folHlink>
    </a:clrScheme>
    <a:fontScheme name="aptos only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ORNL Green">
      <a:srgbClr val="00662C"/>
    </a:custClr>
    <a:custClr name="Hale Navy">
      <a:srgbClr val="00454D"/>
    </a:custClr>
    <a:custClr name="Graphite">
      <a:srgbClr val="DBDCDB"/>
    </a:custClr>
    <a:custClr name="Polar">
      <a:srgbClr val="FFFFFF"/>
    </a:custClr>
    <a:custClr name="Dark Matter">
      <a:srgbClr val="373A36"/>
    </a:custClr>
    <a:custClr name="Energy">
      <a:srgbClr val="7DBA00"/>
    </a:custClr>
    <a:custClr name="Mist">
      <a:srgbClr val="8BFEBF"/>
    </a:custClr>
    <a:custClr name="Biome">
      <a:srgbClr val="00B38F"/>
    </a:custClr>
    <a:custClr name="Aqua">
      <a:srgbClr val="00BDB5"/>
    </a:custClr>
    <a:custClr name="Infinity">
      <a:srgbClr val="006BA6"/>
    </a:custClr>
    <a:custClr name="Hydro">
      <a:srgbClr val="005776"/>
    </a:custClr>
    <a:custClr name="Forge">
      <a:srgbClr val="FF9E1B"/>
    </a:custClr>
    <a:custClr name="Spark">
      <a:srgbClr val="FE5000"/>
    </a:custClr>
    <a:custClr name="Plasma">
      <a:srgbClr val="B50094"/>
    </a:custClr>
    <a:custClr name="Pulsar">
      <a:srgbClr val="4E008E"/>
    </a:custClr>
  </a:custClrLst>
  <a:extLst>
    <a:ext uri="{05A4C25C-085E-4340-85A3-A5531E510DB2}">
      <thm15:themeFamily xmlns:thm15="http://schemas.microsoft.com/office/thememl/2012/main" name="ORNL-Presentation-16x9-Template" id="{7046AE06-9846-7E4F-8310-1A5182779058}" vid="{9FE858FF-43F1-DB4C-AB9C-425F4E62A3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35D94AA51454CA954996F40E56461" ma:contentTypeVersion="3" ma:contentTypeDescription="Create a new document." ma:contentTypeScope="" ma:versionID="90f0075a63c68b6ab01931286a2e0a26">
  <xsd:schema xmlns:xsd="http://www.w3.org/2001/XMLSchema" xmlns:xs="http://www.w3.org/2001/XMLSchema" xmlns:p="http://schemas.microsoft.com/office/2006/metadata/properties" xmlns:ns2="509416ec-152d-4daf-9af3-fa3c60434784" targetNamespace="http://schemas.microsoft.com/office/2006/metadata/properties" ma:root="true" ma:fieldsID="acde3889f940823383c358a0770d3f69" ns2:_="">
    <xsd:import namespace="509416ec-152d-4daf-9af3-fa3c604347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416ec-152d-4daf-9af3-fa3c604347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7AC833-856D-4218-BC8A-BAE2FAAE6E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9416ec-152d-4daf-9af3-fa3c604347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5447D3-CB03-4FDB-942B-ACD4516A2D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48D953-C598-46F5-A4A1-BCA32BF9469A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b3dbd43-4c4b-4544-9f8a-0553f9f5f25e}" enabled="0" method="" siteId="{db3dbd43-4c4b-4544-9f8a-0553f9f5f25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ORNL Presentation</Template>
  <TotalTime>289</TotalTime>
  <Words>1147</Words>
  <Application>Microsoft Office PowerPoint</Application>
  <PresentationFormat>Widescreen</PresentationFormat>
  <Paragraphs>67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Light</vt:lpstr>
      <vt:lpstr>Arial</vt:lpstr>
      <vt:lpstr>Calibri</vt:lpstr>
      <vt:lpstr>Roboto</vt:lpstr>
      <vt:lpstr>Segoe UI</vt:lpstr>
      <vt:lpstr>ORNL Presentation</vt:lpstr>
      <vt:lpstr>Worksheet</vt:lpstr>
      <vt:lpstr>Commercializing ORNL’s DT Cryogenic Pellet Injection System </vt:lpstr>
      <vt:lpstr>PowerPoint Presentation</vt:lpstr>
      <vt:lpstr>ORNL has pioneered with an automated interface for smart generation of dashboards based on paired RAG + LLMs </vt:lpstr>
      <vt:lpstr>Preliminary Budget and Timeline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Caldwell, Jennifer T.</dc:creator>
  <cp:keywords/>
  <dc:description/>
  <cp:lastModifiedBy>Tupayachi Silva, Jose</cp:lastModifiedBy>
  <cp:revision>8</cp:revision>
  <dcterms:created xsi:type="dcterms:W3CDTF">2026-06-30T16:49:02Z</dcterms:created>
  <dcterms:modified xsi:type="dcterms:W3CDTF">2026-07-24T20:41:37Z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0x010100DC935D94AA51454CA954996F40E56461</vt:lpwstr>
  </property>
</Properties>
</file>